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db9f13-3c38-db02-8d34-2e2a26dc37b7}">
          <p14:sldIdLst>
            <p14:sldId id="256"/>
            <p14:sldId id="257"/>
          </p14:sldIdLst>
        </p14:section>
        <p14:section name="The risk" id="{996ca634-451d-7060-546c-f071f60113e5}">
          <p14:sldIdLst>
            <p14:sldId id="258"/>
            <p14:sldId id="259"/>
            <p14:sldId id="260"/>
            <p14:sldId id="261"/>
          </p14:sldIdLst>
        </p14:section>
        <p14:section name="Controls" id="{c089484e-d93f-2738-5afa-07adb6564813}">
          <p14:sldIdLst>
            <p14:sldId id="262"/>
            <p14:sldId id="263"/>
            <p14:sldId id="264"/>
            <p14:sldId id="265"/>
          </p14:sldIdLst>
        </p14:section>
        <p14:section name="Close" id="{f19f3e23-09fb-7982-df2f-11b22d79b9f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USD</c:v>
                </c:pt>
              </c:strCache>
            </c:strRef>
          </c:tx>
          <c:spPr>
            <a:solidFill>
              <a:srgbClr val="6B1820"/>
            </a:solidFill>
            <a:effectLst/>
          </c:spPr>
          <c:invertIfNegative val="0"/>
          <c:dLbls>
            <c:numFmt formatCode="$#,##0" sourceLinked="0"/>
            <c:txPr>
              <a:bodyPr/>
              <a:lstStyle/>
              <a:p>
                <a:pPr>
                  <a:defRPr b="0" i="0" strike="noStrike" sz="1300" u="none">
                    <a:solidFill>
                      <a:srgbClr val="241A1C"/>
                    </a:solidFill>
                    <a:latin typeface="+mn-lt"/>
                  </a:defRPr>
                </a:pPr>
              </a:p>
            </c:txPr>
            <c:showLegendKey val="0"/>
            <c:showVal val="1"/>
            <c:showCatName val="0"/>
            <c:showSerName val="0"/>
            <c:showPercent val="0"/>
            <c:showBubbleSize val="0"/>
            <c:showLeaderLines val="0"/>
          </c:dLbls>
          <c:dPt>
            <c:idx val="0"/>
            <c:invertIfNegative val="0"/>
            <c:bubble3D val="0"/>
            <c:spPr>
              <a:solidFill>
                <a:srgbClr val="6B1820"/>
              </a:solidFill>
              <a:effectLst/>
            </c:spPr>
          </c:dPt>
          <c:dPt>
            <c:idx val="1"/>
            <c:invertIfNegative val="0"/>
            <c:bubble3D val="0"/>
            <c:spPr>
              <a:solidFill>
                <a:srgbClr val="B5561A"/>
              </a:solidFill>
              <a:effectLst/>
            </c:spPr>
          </c:dPt>
          <c:cat>
            <c:multiLvlStrRef>
              <c:f>Sheet1!$A$2:$A$3</c:f>
              <c:multiLvlStrCache>
                <c:ptCount val="2"/>
                <c:lvl>
                  <c:pt idx="0">
                    <c:v>Market price</c:v>
                  </c:pt>
                  <c:pt idx="1">
                    <c:v>Invoice price</c:v>
                  </c:pt>
                </c:lvl>
              </c:multiLvlStrCache>
            </c:multiLvlStrRef>
          </c:cat>
          <c:val>
            <c:numRef>
              <c:f>Sheet1!$B$2:$B$3</c:f>
              <c:numCache>
                <c:formatCode>General</c:formatCode>
                <c:ptCount val="2"/>
                <c:pt idx="0">
                  <c:v>100000</c:v>
                </c:pt>
                <c:pt idx="1">
                  <c:v>60000</c:v>
                </c:pt>
              </c:numCache>
            </c:numRef>
          </c:val>
        </c:ser>
        <c:dLbls>
          <c:numFmt formatCode="$#,##0" sourceLinked="0"/>
          <c:txPr>
            <a:bodyPr/>
            <a:lstStyle/>
            <a:p>
              <a:pPr>
                <a:defRPr b="0" i="0" strike="noStrike" sz="1300" u="none">
                  <a:solidFill>
                    <a:srgbClr val="241A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41A1C"/>
                </a:solidFill>
                <a:latin typeface="+mn-lt"/>
              </a:defRPr>
            </a:pPr>
            <a:endParaRPr lang="en-US"/>
          </a:p>
        </c:txPr>
        <c:crossAx val="2094734552"/>
        <c:crosses val="autoZero"/>
        <c:auto val="1"/>
        <c:lblAlgn val="ctr"/>
        <c:noMultiLvlLbl val="1"/>
      </c:catAx>
      <c:valAx>
        <c:axId val="2094734552"/>
        <c:scaling>
          <c:orientation val="minMax"/>
          <c:max val="12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summarises the bank's new Policy Guidelines on Prevention of Trade Based Money Laundering, version 1.0, prepared by the AML &amp; CFT Division. The full document runs to 74 pages. Today we cover the risk itself, how the policy controls it, and what we need from SMT before the policy goes to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facts: the AML &amp; CFT Division owns the policy, SMT reviews it and the Board approves it. It is reviewed every two years or sooner if regulation changes. It covers every authorised dealer branch, the offshore banking units and any unit handling trade, including LCs, guarantees, standby LCs, collections, open account, advance payments and service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FATF first focused on trade based money laundering in 2006. Launderers misstate what is traded, and the money moves with the goods. Under MLPA 2012, smuggling money out of the country, failing to repatriate dues, or overpaying a foreign party all count as money laundering. Penalties are heavy for individuals and for the bank itself, including possible loss of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1.9 to 1.11 list the weak points in local trade. On imports: inflated freight, under-invoicing to dodge duty, and free-of-cost imports that no bank checks. On exports: under-invoicing, late repatriation, and fake export receipts used to claim cash incentives. Service trade and royalty payments are hard to verify. OBUs and economic zone companies carry extra risk because of their funding and liability structures. Even LCs, normally the safest mode, can be staged between related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1.12 names seven challenges. Price verification and transfer pricing, shown in red, are the hardest because many goods have no public price and related-party deals are designed to look normal. The others are about people, culture and systems: few skilled forex staff, target pressure that leads to shortcuts, weak coordination between banks, Customs and NBR, no central price database, and duty rules that distort quoted prices. Several of these need SMT support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1.7 and 1.8 set out the legal base. Local law takes priority over international rules where they differ. The most practical requirement comes from GFET 2018 and the Import Policy Order: before opening an LC we must check that buyer and seller are genuine, that the exporting country normally exports the goods, and that the price is in line with the market. Proforma invoices must show full product detail and an 8-digit HS code to make that check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2.2 sets out a risk-based approach on four layers. First the infrastructure, because no control works without tools. Second the customer, scored before they trade. Third the transaction, where TBML takes place, so it gets the three-level review. Fourth the enterprise level, where senior management reviews the whole picture each year. The four infrastructure tools at the bottom are still being set up and need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2.1 scores each trade customer on 25 parameters across four groups. Data comes from the Trade Transaction Profile the customer completes. The total is turned into a percentage. High risk customers, 75 percent and above, go to Level 3 for enhanced due diligence and can be rejected. Medium and low risk customers get standard CDD. Review frequency is one, three and five years respectively. High risk cases are kept in a database for the annual enterprise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2.2.3 holds the main transaction controls. Level 1 is the processing team: they check KYC and the Trade Transaction Profile, analyse alerts and screen sanctions on every deal. What they cannot clear goes to Level 2, trade AML specialists who dig deeper with third-party data. Level 3 is the DCAMLCO or a CAMLCO nominee, who makes the final call and files the STR if needed. Every decision is documented. Sanction screening is never risk-based: everything is screened.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2.2.3.5 requires a price check before every LC, export lien, TT or collection. Up to 25 percent variance from the reference price is acceptable. Beyond that, sign-off moves up the levels: Level 1 to 40 percent, Level 2 to 50 percent, Level 3 above that. The case on the right is from the policy: an import of ten cars invoiced at 60,000 dollars against a market value of 100,000, between related parties. It was escalated to Level 3, rejected as under-invoicing, and reported to BFIU.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H summarises the FATF and Egmont Group 2021 risk indicators in four groups: account and payment activity, documents and commodities, trade activity, and structural risk. On top of these, Appendix B gives staff 48 specific alerts in eight categories such as goods, transport, payment, country and parties. An alert is not proof of wrongdoing. It means the deal needs a closer look under the three-level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requests. First, endorse the policy so it can go to the Board. Second, fund the four infrastructure tools, since price checks and screening depend on them. Third, support a joint training plan with HRD for all three review levels. Fourth, take ownership of the annual enterprise-wide review and the independent control testing the policy requires. Fifth, set the tone: the policy names sales pressure as a key reason due diligence gets skipped, and only senior management can change that. After that,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4A0E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868680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69080"/>
            <a:ext cx="868680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TBML Prevention Policy v1.0  |  For SMT review</a:t>
            </a:r>
            <a:endParaRPr lang="en-US" sz="1000" dirty="0"/>
          </a:p>
        </p:txBody>
      </p:sp>
      <p:pic>
        <p:nvPicPr>
          <p:cNvPr id="4" name="Image 0" descr="/tmp/claude-0/-home-user-Code-check/4525390e-caa4-5b0d-aa3e-1c9b64fad23c/scratchpad/logo/logo-color.png">    </p:cNvPr>
          <p:cNvPicPr>
            <a:picLocks noChangeAspect="1"/>
          </p:cNvPicPr>
          <p:nvPr/>
        </p:nvPicPr>
        <p:blipFill>
          <a:blip r:embed="rId1"/>
          <a:stretch>
            <a:fillRect/>
          </a:stretch>
        </p:blipFill>
        <p:spPr>
          <a:xfrm>
            <a:off x="9494215" y="6272784"/>
            <a:ext cx="1371600" cy="512064"/>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4A0E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pic>
        <p:nvPicPr>
          <p:cNvPr id="3" name="Image 0" descr="/tmp/claude-0/-home-user-Code-check/4525390e-caa4-5b0d-aa3e-1c9b64fad23c/scratchpad/logo/logo-white.png">    </p:cNvPr>
          <p:cNvPicPr>
            <a:picLocks noChangeAspect="1"/>
          </p:cNvPicPr>
          <p:nvPr/>
        </p:nvPicPr>
        <p:blipFill>
          <a:blip r:embed="rId1"/>
          <a:stretch>
            <a:fillRect/>
          </a:stretch>
        </p:blipFill>
        <p:spPr>
          <a:xfrm>
            <a:off x="9494215" y="6272784"/>
            <a:ext cx="1371600" cy="512064"/>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nk logo" descr="/tmp/claude-0/-home-user-Code-check/4525390e-caa4-5b0d-aa3e-1c9b64fad23c/scratchpad/logo/logo-white.png">    </p:cNvPr>
          <p:cNvPicPr>
            <a:picLocks noChangeAspect="1"/>
          </p:cNvPicPr>
          <p:nvPr/>
        </p:nvPicPr>
        <p:blipFill>
          <a:blip r:embed="rId1"/>
          <a:stretch>
            <a:fillRect/>
          </a:stretch>
        </p:blipFill>
        <p:spPr>
          <a:xfrm>
            <a:off x="548640" y="411480"/>
            <a:ext cx="2926080" cy="1097280"/>
          </a:xfrm>
          <a:prstGeom prst="rect">
            <a:avLst/>
          </a:prstGeom>
        </p:spPr>
      </p:pic>
      <p:sp>
        <p:nvSpPr>
          <p:cNvPr id="3" name="Text 0"/>
          <p:cNvSpPr/>
          <p:nvPr>
            <p:ph idx="100" type="title" hasCustomPrompt="1"/>
          </p:nvPr>
        </p:nvSpPr>
        <p:spPr>
          <a:xfrm>
            <a:off x="548640" y="2103120"/>
            <a:ext cx="868680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Preventing Trade Based Money Laundering</a:t>
            </a:r>
            <a:endParaRPr lang="en-US" sz="4000" dirty="0"/>
          </a:p>
        </p:txBody>
      </p:sp>
      <p:sp>
        <p:nvSpPr>
          <p:cNvPr id="4" name="Text 0"/>
          <p:cNvSpPr/>
          <p:nvPr>
            <p:ph idx="101" type="body" hasCustomPrompt="1"/>
          </p:nvPr>
        </p:nvSpPr>
        <p:spPr>
          <a:xfrm>
            <a:off x="548640" y="4069080"/>
            <a:ext cx="8686800" cy="914400"/>
          </a:xfrm>
          <a:prstGeom prst="rect">
            <a:avLst/>
          </a:prstGeom>
          <a:noFill/>
          <a:ln/>
        </p:spPr>
        <p:txBody>
          <a:bodyPr wrap="square" lIns="0" tIns="0" rIns="0" bIns="0" rtlCol="0" anchor="t"/>
          <a:lstStyle/>
          <a:p>
            <a:pPr algn="l" indent="0" marL="0">
              <a:buNone/>
            </a:pPr>
            <a:r>
              <a:rPr lang="en-US" sz="1800" dirty="0">
                <a:solidFill>
                  <a:schemeClr val="accent6"/>
                </a:solidFill>
              </a:rPr>
              <a:t>Policy Guidelines v1.0  |  Briefing for the Senior Management Team  |  August 2026</a:t>
            </a:r>
            <a:endParaRPr lang="en-US" sz="1800" dirty="0"/>
          </a:p>
        </p:txBody>
      </p:sp>
      <p:sp>
        <p:nvSpPr>
          <p:cNvPr id="5" name="Owner"/>
          <p:cNvSpPr txBox="1"/>
          <p:nvPr/>
        </p:nvSpPr>
        <p:spPr>
          <a:xfrm>
            <a:off x="548640" y="5852160"/>
            <a:ext cx="5486400" cy="365760"/>
          </a:xfrm>
          <a:prstGeom prst="rect">
            <a:avLst/>
          </a:prstGeom>
          <a:noFill/>
          <a:ln/>
        </p:spPr>
        <p:txBody>
          <a:bodyPr wrap="square" lIns="0" tIns="0" rIns="0" bIns="0" rtlCol="0" anchor="ctr"/>
          <a:lstStyle/>
          <a:p>
            <a:pPr indent="0" marL="0">
              <a:buNone/>
            </a:pPr>
            <a:r>
              <a:rPr lang="en-US" sz="1400" dirty="0">
                <a:solidFill>
                  <a:schemeClr val="bg1"/>
                </a:solidFill>
              </a:rPr>
              <a:t>AML &amp; CFT Division</a:t>
            </a:r>
            <a:endParaRPr lang="en-US" sz="1400" dirty="0"/>
          </a:p>
        </p:txBody>
      </p:sp>
      <p:sp>
        <p:nvSpPr>
          <p:cNvPr id="6" name="Tagline"/>
          <p:cNvSpPr txBox="1"/>
          <p:nvPr/>
        </p:nvSpPr>
        <p:spPr>
          <a:xfrm>
            <a:off x="7071055" y="5852160"/>
            <a:ext cx="4572000" cy="365760"/>
          </a:xfrm>
          <a:prstGeom prst="rect">
            <a:avLst/>
          </a:prstGeom>
          <a:noFill/>
          <a:ln/>
        </p:spPr>
        <p:txBody>
          <a:bodyPr wrap="square" lIns="0" tIns="0" rIns="0" bIns="0" rtlCol="0" anchor="ctr"/>
          <a:lstStyle/>
          <a:p>
            <a:pPr algn="r" indent="0" marL="0">
              <a:buNone/>
            </a:pPr>
            <a:r>
              <a:rPr lang="en-US" sz="1400" dirty="0">
                <a:solidFill>
                  <a:schemeClr val="accent6"/>
                </a:solidFill>
              </a:rPr>
              <a:t>Confidential  |  For SMT review</a:t>
            </a:r>
            <a:endParaRPr lang="en-US" sz="1400" dirty="0"/>
          </a:p>
        </p:txBody>
      </p:sp>
      <p:sp>
        <p:nvSpPr>
          <p:cNvPr id="7" name="Shield circle"/>
          <p:cNvSpPr/>
          <p:nvPr/>
        </p:nvSpPr>
        <p:spPr>
          <a:xfrm>
            <a:off x="9692640" y="2377440"/>
            <a:ext cx="1737360" cy="1737360"/>
          </a:xfrm>
          <a:prstGeom prst="ellipse">
            <a:avLst/>
          </a:prstGeom>
          <a:solidFill>
            <a:srgbClr val="912125"/>
          </a:solidFill>
          <a:ln w="12700">
            <a:solidFill>
              <a:srgbClr val="912125"/>
            </a:solidFill>
            <a:prstDash val="solid"/>
          </a:ln>
        </p:spPr>
      </p:sp>
      <p:pic>
        <p:nvPicPr>
          <p:cNvPr id="8" name="Shield icon" descr="preencoded.png">    </p:cNvPr>
          <p:cNvPicPr>
            <a:picLocks noChangeAspect="1"/>
          </p:cNvPicPr>
          <p:nvPr/>
        </p:nvPicPr>
        <p:blipFill>
          <a:blip r:embed="rId2"/>
          <a:stretch>
            <a:fillRect/>
          </a:stretch>
        </p:blipFill>
        <p:spPr>
          <a:xfrm>
            <a:off x="10126980" y="2811780"/>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policy at a glance</a:t>
            </a:r>
            <a:endParaRPr lang="en-US" sz="3200" dirty="0"/>
          </a:p>
        </p:txBody>
      </p:sp>
      <p:sp>
        <p:nvSpPr>
          <p:cNvPr id="3" name="Fact 1"/>
          <p:cNvSpPr/>
          <p:nvPr/>
        </p:nvSpPr>
        <p:spPr>
          <a:xfrm>
            <a:off x="548640" y="1417320"/>
            <a:ext cx="5577840" cy="749808"/>
          </a:xfrm>
          <a:prstGeom prst="roundRect">
            <a:avLst>
              <a:gd name="adj" fmla="val 9756"/>
            </a:avLst>
          </a:prstGeom>
          <a:solidFill>
            <a:schemeClr val="bg2"/>
          </a:solidFill>
          <a:ln w="12700">
            <a:solidFill>
              <a:schemeClr val="bg2"/>
            </a:solidFill>
            <a:prstDash val="solid"/>
          </a:ln>
        </p:spPr>
      </p:sp>
      <p:sp>
        <p:nvSpPr>
          <p:cNvPr id="4" name="Text 2"/>
          <p:cNvSpPr txBox="1"/>
          <p:nvPr/>
        </p:nvSpPr>
        <p:spPr>
          <a:xfrm>
            <a:off x="822960" y="1508760"/>
            <a:ext cx="502920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DOCUMENT OWNER</a:t>
            </a:r>
            <a:endParaRPr lang="en-US" sz="1100" dirty="0"/>
          </a:p>
        </p:txBody>
      </p:sp>
      <p:sp>
        <p:nvSpPr>
          <p:cNvPr id="5" name="Text 3"/>
          <p:cNvSpPr txBox="1"/>
          <p:nvPr/>
        </p:nvSpPr>
        <p:spPr>
          <a:xfrm>
            <a:off x="822960" y="1764792"/>
            <a:ext cx="5120640" cy="329184"/>
          </a:xfrm>
          <a:prstGeom prst="rect">
            <a:avLst/>
          </a:prstGeom>
          <a:noFill/>
          <a:ln/>
        </p:spPr>
        <p:txBody>
          <a:bodyPr wrap="square" lIns="0" tIns="0" rIns="0" bIns="0" rtlCol="0" anchor="ctr"/>
          <a:lstStyle/>
          <a:p>
            <a:pPr indent="0" marL="0">
              <a:buNone/>
            </a:pPr>
            <a:r>
              <a:rPr lang="en-US" sz="1700" dirty="0">
                <a:solidFill>
                  <a:schemeClr val="tx1"/>
                </a:solidFill>
              </a:rPr>
              <a:t>AML &amp; CFT Division</a:t>
            </a:r>
            <a:endParaRPr lang="en-US" sz="1700" dirty="0"/>
          </a:p>
        </p:txBody>
      </p:sp>
      <p:sp>
        <p:nvSpPr>
          <p:cNvPr id="6" name="Fact 2"/>
          <p:cNvSpPr/>
          <p:nvPr/>
        </p:nvSpPr>
        <p:spPr>
          <a:xfrm>
            <a:off x="548640" y="2313432"/>
            <a:ext cx="5577840" cy="749808"/>
          </a:xfrm>
          <a:prstGeom prst="roundRect">
            <a:avLst>
              <a:gd name="adj" fmla="val 9756"/>
            </a:avLst>
          </a:prstGeom>
          <a:solidFill>
            <a:schemeClr val="bg2"/>
          </a:solidFill>
          <a:ln w="12700">
            <a:solidFill>
              <a:schemeClr val="bg2"/>
            </a:solidFill>
            <a:prstDash val="solid"/>
          </a:ln>
        </p:spPr>
      </p:sp>
      <p:sp>
        <p:nvSpPr>
          <p:cNvPr id="7" name="Text 5"/>
          <p:cNvSpPr txBox="1"/>
          <p:nvPr/>
        </p:nvSpPr>
        <p:spPr>
          <a:xfrm>
            <a:off x="822960" y="2404872"/>
            <a:ext cx="502920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REVIEWING AUTHORITY</a:t>
            </a:r>
            <a:endParaRPr lang="en-US" sz="1100" dirty="0"/>
          </a:p>
        </p:txBody>
      </p:sp>
      <p:sp>
        <p:nvSpPr>
          <p:cNvPr id="8" name="Text 6"/>
          <p:cNvSpPr txBox="1"/>
          <p:nvPr/>
        </p:nvSpPr>
        <p:spPr>
          <a:xfrm>
            <a:off x="822960" y="2660904"/>
            <a:ext cx="5120640" cy="329184"/>
          </a:xfrm>
          <a:prstGeom prst="rect">
            <a:avLst/>
          </a:prstGeom>
          <a:noFill/>
          <a:ln/>
        </p:spPr>
        <p:txBody>
          <a:bodyPr wrap="square" lIns="0" tIns="0" rIns="0" bIns="0" rtlCol="0" anchor="ctr"/>
          <a:lstStyle/>
          <a:p>
            <a:pPr indent="0" marL="0">
              <a:buNone/>
            </a:pPr>
            <a:r>
              <a:rPr lang="en-US" sz="1700" dirty="0">
                <a:solidFill>
                  <a:schemeClr val="tx1"/>
                </a:solidFill>
              </a:rPr>
              <a:t>Senior Management Team</a:t>
            </a:r>
            <a:endParaRPr lang="en-US" sz="1700" dirty="0"/>
          </a:p>
        </p:txBody>
      </p:sp>
      <p:sp>
        <p:nvSpPr>
          <p:cNvPr id="9" name="Fact 3"/>
          <p:cNvSpPr/>
          <p:nvPr/>
        </p:nvSpPr>
        <p:spPr>
          <a:xfrm>
            <a:off x="548640" y="3209544"/>
            <a:ext cx="5577840" cy="749808"/>
          </a:xfrm>
          <a:prstGeom prst="roundRect">
            <a:avLst>
              <a:gd name="adj" fmla="val 9756"/>
            </a:avLst>
          </a:prstGeom>
          <a:solidFill>
            <a:schemeClr val="bg2"/>
          </a:solidFill>
          <a:ln w="12700">
            <a:solidFill>
              <a:schemeClr val="bg2"/>
            </a:solidFill>
            <a:prstDash val="solid"/>
          </a:ln>
        </p:spPr>
      </p:sp>
      <p:sp>
        <p:nvSpPr>
          <p:cNvPr id="10" name="Text 8"/>
          <p:cNvSpPr txBox="1"/>
          <p:nvPr/>
        </p:nvSpPr>
        <p:spPr>
          <a:xfrm>
            <a:off x="822960" y="3300984"/>
            <a:ext cx="502920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APPROVING AUTHORITY</a:t>
            </a:r>
            <a:endParaRPr lang="en-US" sz="1100" dirty="0"/>
          </a:p>
        </p:txBody>
      </p:sp>
      <p:sp>
        <p:nvSpPr>
          <p:cNvPr id="11" name="Text 9"/>
          <p:cNvSpPr txBox="1"/>
          <p:nvPr/>
        </p:nvSpPr>
        <p:spPr>
          <a:xfrm>
            <a:off x="822960" y="3557016"/>
            <a:ext cx="5120640" cy="329184"/>
          </a:xfrm>
          <a:prstGeom prst="rect">
            <a:avLst/>
          </a:prstGeom>
          <a:noFill/>
          <a:ln/>
        </p:spPr>
        <p:txBody>
          <a:bodyPr wrap="square" lIns="0" tIns="0" rIns="0" bIns="0" rtlCol="0" anchor="ctr"/>
          <a:lstStyle/>
          <a:p>
            <a:pPr indent="0" marL="0">
              <a:buNone/>
            </a:pPr>
            <a:r>
              <a:rPr lang="en-US" sz="1700" dirty="0">
                <a:solidFill>
                  <a:schemeClr val="tx1"/>
                </a:solidFill>
              </a:rPr>
              <a:t>Board of Directors</a:t>
            </a:r>
            <a:endParaRPr lang="en-US" sz="1700" dirty="0"/>
          </a:p>
        </p:txBody>
      </p:sp>
      <p:sp>
        <p:nvSpPr>
          <p:cNvPr id="12" name="Fact 4"/>
          <p:cNvSpPr/>
          <p:nvPr/>
        </p:nvSpPr>
        <p:spPr>
          <a:xfrm>
            <a:off x="548640" y="4105656"/>
            <a:ext cx="5577840" cy="749808"/>
          </a:xfrm>
          <a:prstGeom prst="roundRect">
            <a:avLst>
              <a:gd name="adj" fmla="val 9756"/>
            </a:avLst>
          </a:prstGeom>
          <a:solidFill>
            <a:schemeClr val="bg2"/>
          </a:solidFill>
          <a:ln w="12700">
            <a:solidFill>
              <a:schemeClr val="bg2"/>
            </a:solidFill>
            <a:prstDash val="solid"/>
          </a:ln>
        </p:spPr>
      </p:sp>
      <p:sp>
        <p:nvSpPr>
          <p:cNvPr id="13" name="Text 11"/>
          <p:cNvSpPr txBox="1"/>
          <p:nvPr/>
        </p:nvSpPr>
        <p:spPr>
          <a:xfrm>
            <a:off x="822960" y="4197096"/>
            <a:ext cx="502920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REVIEW CYCLE</a:t>
            </a:r>
            <a:endParaRPr lang="en-US" sz="1100" dirty="0"/>
          </a:p>
        </p:txBody>
      </p:sp>
      <p:sp>
        <p:nvSpPr>
          <p:cNvPr id="14" name="Text 12"/>
          <p:cNvSpPr txBox="1"/>
          <p:nvPr/>
        </p:nvSpPr>
        <p:spPr>
          <a:xfrm>
            <a:off x="822960" y="4453128"/>
            <a:ext cx="5120640" cy="329184"/>
          </a:xfrm>
          <a:prstGeom prst="rect">
            <a:avLst/>
          </a:prstGeom>
          <a:noFill/>
          <a:ln/>
        </p:spPr>
        <p:txBody>
          <a:bodyPr wrap="square" lIns="0" tIns="0" rIns="0" bIns="0" rtlCol="0" anchor="ctr"/>
          <a:lstStyle/>
          <a:p>
            <a:pPr indent="0" marL="0">
              <a:buNone/>
            </a:pPr>
            <a:r>
              <a:rPr lang="en-US" sz="1700" dirty="0">
                <a:solidFill>
                  <a:schemeClr val="tx1"/>
                </a:solidFill>
              </a:rPr>
              <a:t>Every 2 years, or as required</a:t>
            </a:r>
            <a:endParaRPr lang="en-US" sz="1700" dirty="0"/>
          </a:p>
        </p:txBody>
      </p:sp>
      <p:sp>
        <p:nvSpPr>
          <p:cNvPr id="15" name="Fact 5"/>
          <p:cNvSpPr/>
          <p:nvPr/>
        </p:nvSpPr>
        <p:spPr>
          <a:xfrm>
            <a:off x="548640" y="5001768"/>
            <a:ext cx="5577840" cy="749808"/>
          </a:xfrm>
          <a:prstGeom prst="roundRect">
            <a:avLst>
              <a:gd name="adj" fmla="val 9756"/>
            </a:avLst>
          </a:prstGeom>
          <a:solidFill>
            <a:schemeClr val="bg2"/>
          </a:solidFill>
          <a:ln w="12700">
            <a:solidFill>
              <a:schemeClr val="bg2"/>
            </a:solidFill>
            <a:prstDash val="solid"/>
          </a:ln>
        </p:spPr>
      </p:sp>
      <p:sp>
        <p:nvSpPr>
          <p:cNvPr id="16" name="Text 14"/>
          <p:cNvSpPr txBox="1"/>
          <p:nvPr/>
        </p:nvSpPr>
        <p:spPr>
          <a:xfrm>
            <a:off x="822960" y="5093208"/>
            <a:ext cx="502920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APPLIES TO</a:t>
            </a:r>
            <a:endParaRPr lang="en-US" sz="1100" dirty="0"/>
          </a:p>
        </p:txBody>
      </p:sp>
      <p:sp>
        <p:nvSpPr>
          <p:cNvPr id="17" name="Text 15"/>
          <p:cNvSpPr txBox="1"/>
          <p:nvPr/>
        </p:nvSpPr>
        <p:spPr>
          <a:xfrm>
            <a:off x="822960" y="5349240"/>
            <a:ext cx="5120640" cy="329184"/>
          </a:xfrm>
          <a:prstGeom prst="rect">
            <a:avLst/>
          </a:prstGeom>
          <a:noFill/>
          <a:ln/>
        </p:spPr>
        <p:txBody>
          <a:bodyPr wrap="square" lIns="0" tIns="0" rIns="0" bIns="0" rtlCol="0" anchor="ctr"/>
          <a:lstStyle/>
          <a:p>
            <a:pPr indent="0" marL="0">
              <a:buNone/>
            </a:pPr>
            <a:r>
              <a:rPr lang="en-US" sz="1700" dirty="0">
                <a:solidFill>
                  <a:schemeClr val="tx1"/>
                </a:solidFill>
              </a:rPr>
              <a:t>All AD branches, OBUs and trade units</a:t>
            </a:r>
            <a:endParaRPr lang="en-US" sz="1700" dirty="0"/>
          </a:p>
        </p:txBody>
      </p:sp>
      <p:sp>
        <p:nvSpPr>
          <p:cNvPr id="18" name="Text 16"/>
          <p:cNvSpPr txBox="1"/>
          <p:nvPr/>
        </p:nvSpPr>
        <p:spPr>
          <a:xfrm>
            <a:off x="6720840" y="1417320"/>
            <a:ext cx="484632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Today's agenda</a:t>
            </a:r>
            <a:endParaRPr lang="en-US" sz="2000" dirty="0"/>
          </a:p>
        </p:txBody>
      </p:sp>
      <p:sp>
        <p:nvSpPr>
          <p:cNvPr id="19" name="Agenda num 1"/>
          <p:cNvSpPr/>
          <p:nvPr/>
        </p:nvSpPr>
        <p:spPr>
          <a:xfrm>
            <a:off x="6720840" y="201168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6720840" y="2011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1" name="Text 19"/>
          <p:cNvSpPr txBox="1"/>
          <p:nvPr/>
        </p:nvSpPr>
        <p:spPr>
          <a:xfrm>
            <a:off x="7452360" y="2011680"/>
            <a:ext cx="4206240" cy="548640"/>
          </a:xfrm>
          <a:prstGeom prst="rect">
            <a:avLst/>
          </a:prstGeom>
          <a:noFill/>
          <a:ln/>
        </p:spPr>
        <p:txBody>
          <a:bodyPr wrap="square" lIns="0" tIns="0" rIns="0" bIns="0" rtlCol="0" anchor="ctr"/>
          <a:lstStyle/>
          <a:p>
            <a:pPr indent="0" marL="0">
              <a:buNone/>
            </a:pPr>
            <a:r>
              <a:rPr lang="en-US" sz="1700" dirty="0">
                <a:solidFill>
                  <a:schemeClr val="tx1"/>
                </a:solidFill>
              </a:rPr>
              <a:t>Why TBML matters to us</a:t>
            </a:r>
            <a:endParaRPr lang="en-US" sz="1700" dirty="0"/>
          </a:p>
        </p:txBody>
      </p:sp>
      <p:sp>
        <p:nvSpPr>
          <p:cNvPr id="22" name="Agenda num 2"/>
          <p:cNvSpPr/>
          <p:nvPr/>
        </p:nvSpPr>
        <p:spPr>
          <a:xfrm>
            <a:off x="6720840" y="2798064"/>
            <a:ext cx="548640" cy="548640"/>
          </a:xfrm>
          <a:prstGeom prst="ellipse">
            <a:avLst/>
          </a:prstGeom>
          <a:solidFill>
            <a:schemeClr val="accent1"/>
          </a:solidFill>
          <a:ln w="12700">
            <a:solidFill>
              <a:schemeClr val="accent1"/>
            </a:solidFill>
            <a:prstDash val="solid"/>
          </a:ln>
        </p:spPr>
      </p:sp>
      <p:sp>
        <p:nvSpPr>
          <p:cNvPr id="23" name="Text 21"/>
          <p:cNvSpPr txBox="1"/>
          <p:nvPr/>
        </p:nvSpPr>
        <p:spPr>
          <a:xfrm>
            <a:off x="6720840" y="279806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4" name="Text 22"/>
          <p:cNvSpPr txBox="1"/>
          <p:nvPr/>
        </p:nvSpPr>
        <p:spPr>
          <a:xfrm>
            <a:off x="7452360" y="2798064"/>
            <a:ext cx="4206240" cy="548640"/>
          </a:xfrm>
          <a:prstGeom prst="rect">
            <a:avLst/>
          </a:prstGeom>
          <a:noFill/>
          <a:ln/>
        </p:spPr>
        <p:txBody>
          <a:bodyPr wrap="square" lIns="0" tIns="0" rIns="0" bIns="0" rtlCol="0" anchor="ctr"/>
          <a:lstStyle/>
          <a:p>
            <a:pPr indent="0" marL="0">
              <a:buNone/>
            </a:pPr>
            <a:r>
              <a:rPr lang="en-US" sz="1700" dirty="0">
                <a:solidFill>
                  <a:schemeClr val="tx1"/>
                </a:solidFill>
              </a:rPr>
              <a:t>Where Bangladesh trade is exposed</a:t>
            </a:r>
            <a:endParaRPr lang="en-US" sz="1700" dirty="0"/>
          </a:p>
        </p:txBody>
      </p:sp>
      <p:sp>
        <p:nvSpPr>
          <p:cNvPr id="25" name="Agenda num 3"/>
          <p:cNvSpPr/>
          <p:nvPr/>
        </p:nvSpPr>
        <p:spPr>
          <a:xfrm>
            <a:off x="6720840" y="3584448"/>
            <a:ext cx="548640" cy="548640"/>
          </a:xfrm>
          <a:prstGeom prst="ellipse">
            <a:avLst/>
          </a:prstGeom>
          <a:solidFill>
            <a:schemeClr val="accent1"/>
          </a:solidFill>
          <a:ln w="12700">
            <a:solidFill>
              <a:schemeClr val="accent1"/>
            </a:solidFill>
            <a:prstDash val="solid"/>
          </a:ln>
        </p:spPr>
      </p:sp>
      <p:sp>
        <p:nvSpPr>
          <p:cNvPr id="26" name="Text 24"/>
          <p:cNvSpPr txBox="1"/>
          <p:nvPr/>
        </p:nvSpPr>
        <p:spPr>
          <a:xfrm>
            <a:off x="6720840" y="35844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7" name="Text 25"/>
          <p:cNvSpPr txBox="1"/>
          <p:nvPr/>
        </p:nvSpPr>
        <p:spPr>
          <a:xfrm>
            <a:off x="7452360" y="3584448"/>
            <a:ext cx="4206240" cy="548640"/>
          </a:xfrm>
          <a:prstGeom prst="rect">
            <a:avLst/>
          </a:prstGeom>
          <a:noFill/>
          <a:ln/>
        </p:spPr>
        <p:txBody>
          <a:bodyPr wrap="square" lIns="0" tIns="0" rIns="0" bIns="0" rtlCol="0" anchor="ctr"/>
          <a:lstStyle/>
          <a:p>
            <a:pPr indent="0" marL="0">
              <a:buNone/>
            </a:pPr>
            <a:r>
              <a:rPr lang="en-US" sz="1700" dirty="0">
                <a:solidFill>
                  <a:schemeClr val="tx1"/>
                </a:solidFill>
              </a:rPr>
              <a:t>Our four-layer control framework</a:t>
            </a:r>
            <a:endParaRPr lang="en-US" sz="1700" dirty="0"/>
          </a:p>
        </p:txBody>
      </p:sp>
      <p:sp>
        <p:nvSpPr>
          <p:cNvPr id="28" name="Agenda num 4"/>
          <p:cNvSpPr/>
          <p:nvPr/>
        </p:nvSpPr>
        <p:spPr>
          <a:xfrm>
            <a:off x="6720840" y="4370832"/>
            <a:ext cx="548640" cy="548640"/>
          </a:xfrm>
          <a:prstGeom prst="ellipse">
            <a:avLst/>
          </a:prstGeom>
          <a:solidFill>
            <a:schemeClr val="accent1"/>
          </a:solidFill>
          <a:ln w="12700">
            <a:solidFill>
              <a:schemeClr val="accent1"/>
            </a:solidFill>
            <a:prstDash val="solid"/>
          </a:ln>
        </p:spPr>
      </p:sp>
      <p:sp>
        <p:nvSpPr>
          <p:cNvPr id="29" name="Text 27"/>
          <p:cNvSpPr txBox="1"/>
          <p:nvPr/>
        </p:nvSpPr>
        <p:spPr>
          <a:xfrm>
            <a:off x="6720840" y="437083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0" name="Text 28"/>
          <p:cNvSpPr txBox="1"/>
          <p:nvPr/>
        </p:nvSpPr>
        <p:spPr>
          <a:xfrm>
            <a:off x="7452360" y="4370832"/>
            <a:ext cx="4206240" cy="548640"/>
          </a:xfrm>
          <a:prstGeom prst="rect">
            <a:avLst/>
          </a:prstGeom>
          <a:noFill/>
          <a:ln/>
        </p:spPr>
        <p:txBody>
          <a:bodyPr wrap="square" lIns="0" tIns="0" rIns="0" bIns="0" rtlCol="0" anchor="ctr"/>
          <a:lstStyle/>
          <a:p>
            <a:pPr indent="0" marL="0">
              <a:buNone/>
            </a:pPr>
            <a:r>
              <a:rPr lang="en-US" sz="1700" dirty="0">
                <a:solidFill>
                  <a:schemeClr val="tx1"/>
                </a:solidFill>
              </a:rPr>
              <a:t>Customer scoring and three-level review</a:t>
            </a:r>
            <a:endParaRPr lang="en-US" sz="1700" dirty="0"/>
          </a:p>
        </p:txBody>
      </p:sp>
      <p:sp>
        <p:nvSpPr>
          <p:cNvPr id="31" name="Agenda num 5"/>
          <p:cNvSpPr/>
          <p:nvPr/>
        </p:nvSpPr>
        <p:spPr>
          <a:xfrm>
            <a:off x="6720840" y="5157216"/>
            <a:ext cx="548640" cy="548640"/>
          </a:xfrm>
          <a:prstGeom prst="ellipse">
            <a:avLst/>
          </a:prstGeom>
          <a:solidFill>
            <a:schemeClr val="accent1"/>
          </a:solidFill>
          <a:ln w="12700">
            <a:solidFill>
              <a:schemeClr val="accent1"/>
            </a:solidFill>
            <a:prstDash val="solid"/>
          </a:ln>
        </p:spPr>
      </p:sp>
      <p:sp>
        <p:nvSpPr>
          <p:cNvPr id="32" name="Text 30"/>
          <p:cNvSpPr txBox="1"/>
          <p:nvPr/>
        </p:nvSpPr>
        <p:spPr>
          <a:xfrm>
            <a:off x="6720840" y="515721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3" name="Text 31"/>
          <p:cNvSpPr txBox="1"/>
          <p:nvPr/>
        </p:nvSpPr>
        <p:spPr>
          <a:xfrm>
            <a:off x="7452360" y="5157216"/>
            <a:ext cx="4206240" cy="548640"/>
          </a:xfrm>
          <a:prstGeom prst="rect">
            <a:avLst/>
          </a:prstGeom>
          <a:noFill/>
          <a:ln/>
        </p:spPr>
        <p:txBody>
          <a:bodyPr wrap="square" lIns="0" tIns="0" rIns="0" bIns="0" rtlCol="0" anchor="ctr"/>
          <a:lstStyle/>
          <a:p>
            <a:pPr indent="0" marL="0">
              <a:buNone/>
            </a:pPr>
            <a:r>
              <a:rPr lang="en-US" sz="1700" dirty="0">
                <a:solidFill>
                  <a:schemeClr val="tx1"/>
                </a:solidFill>
              </a:rPr>
              <a:t>Red flags and what we ask of SMT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TBML hides illicit money inside ordinary trade</a:t>
            </a:r>
            <a:endParaRPr lang="en-US" sz="3200" dirty="0"/>
          </a:p>
        </p:txBody>
      </p:sp>
      <p:sp>
        <p:nvSpPr>
          <p:cNvPr id="3" name="Text 1"/>
          <p:cNvSpPr txBox="1"/>
          <p:nvPr/>
        </p:nvSpPr>
        <p:spPr>
          <a:xfrm>
            <a:off x="548640" y="1325880"/>
            <a:ext cx="6675120" cy="868680"/>
          </a:xfrm>
          <a:prstGeom prst="rect">
            <a:avLst/>
          </a:prstGeom>
          <a:noFill/>
          <a:ln/>
        </p:spPr>
        <p:txBody>
          <a:bodyPr wrap="square" lIns="0" tIns="0" rIns="0" bIns="0" rtlCol="0" anchor="ctr"/>
          <a:lstStyle/>
          <a:p>
            <a:pPr indent="0" marL="0">
              <a:buNone/>
            </a:pPr>
            <a:r>
              <a:rPr lang="en-US" sz="1600" dirty="0">
                <a:solidFill>
                  <a:schemeClr val="tx1"/>
                </a:solidFill>
              </a:rPr>
              <a:t>Criminals misstate the price, quantity or quality of goods and services so value moves across borders unnoticed. Buyer and seller are often in collusion, sometimes controlled by the same person.</a:t>
            </a:r>
            <a:endParaRPr lang="en-US" sz="1600" dirty="0"/>
          </a:p>
        </p:txBody>
      </p:sp>
      <p:sp>
        <p:nvSpPr>
          <p:cNvPr id="4" name="Text 2"/>
          <p:cNvSpPr txBox="1"/>
          <p:nvPr/>
        </p:nvSpPr>
        <p:spPr>
          <a:xfrm>
            <a:off x="548640" y="2377440"/>
            <a:ext cx="6675120" cy="320040"/>
          </a:xfrm>
          <a:prstGeom prst="rect">
            <a:avLst/>
          </a:prstGeom>
          <a:noFill/>
          <a:ln/>
        </p:spPr>
        <p:txBody>
          <a:bodyPr wrap="square" lIns="0" tIns="0" rIns="0" bIns="0" rtlCol="0" anchor="ctr"/>
          <a:lstStyle/>
          <a:p>
            <a:pPr indent="0" marL="0">
              <a:buNone/>
            </a:pPr>
            <a:r>
              <a:rPr lang="en-US" sz="1400" b="1" dirty="0">
                <a:solidFill>
                  <a:schemeClr val="accent1"/>
                </a:solidFill>
              </a:rPr>
              <a:t>Common techniques</a:t>
            </a:r>
            <a:endParaRPr lang="en-US" sz="1400" dirty="0"/>
          </a:p>
        </p:txBody>
      </p:sp>
      <p:sp>
        <p:nvSpPr>
          <p:cNvPr id="5" name="Method 1"/>
          <p:cNvSpPr/>
          <p:nvPr/>
        </p:nvSpPr>
        <p:spPr>
          <a:xfrm>
            <a:off x="548640" y="2788920"/>
            <a:ext cx="3200400" cy="530352"/>
          </a:xfrm>
          <a:prstGeom prst="roundRect">
            <a:avLst>
              <a:gd name="adj" fmla="val 13793"/>
            </a:avLst>
          </a:prstGeom>
          <a:solidFill>
            <a:schemeClr val="bg2"/>
          </a:solidFill>
          <a:ln w="12700">
            <a:solidFill>
              <a:schemeClr val="bg2"/>
            </a:solidFill>
            <a:prstDash val="solid"/>
          </a:ln>
        </p:spPr>
      </p:sp>
      <p:sp>
        <p:nvSpPr>
          <p:cNvPr id="6" name="Text 4"/>
          <p:cNvSpPr txBox="1"/>
          <p:nvPr/>
        </p:nvSpPr>
        <p:spPr>
          <a:xfrm>
            <a:off x="777240" y="2788920"/>
            <a:ext cx="2834640" cy="530352"/>
          </a:xfrm>
          <a:prstGeom prst="rect">
            <a:avLst/>
          </a:prstGeom>
          <a:noFill/>
          <a:ln/>
        </p:spPr>
        <p:txBody>
          <a:bodyPr wrap="square" lIns="0" tIns="0" rIns="0" bIns="0" rtlCol="0" anchor="ctr"/>
          <a:lstStyle/>
          <a:p>
            <a:pPr indent="0" marL="0">
              <a:buNone/>
            </a:pPr>
            <a:r>
              <a:rPr lang="en-US" sz="1500" dirty="0">
                <a:solidFill>
                  <a:schemeClr val="tx1"/>
                </a:solidFill>
              </a:rPr>
              <a:t>Over invoicing</a:t>
            </a:r>
            <a:endParaRPr lang="en-US" sz="1500" dirty="0"/>
          </a:p>
        </p:txBody>
      </p:sp>
      <p:sp>
        <p:nvSpPr>
          <p:cNvPr id="7" name="Method 2"/>
          <p:cNvSpPr/>
          <p:nvPr/>
        </p:nvSpPr>
        <p:spPr>
          <a:xfrm>
            <a:off x="3931920" y="2788920"/>
            <a:ext cx="3200400" cy="530352"/>
          </a:xfrm>
          <a:prstGeom prst="roundRect">
            <a:avLst>
              <a:gd name="adj" fmla="val 13793"/>
            </a:avLst>
          </a:prstGeom>
          <a:solidFill>
            <a:schemeClr val="bg2"/>
          </a:solidFill>
          <a:ln w="12700">
            <a:solidFill>
              <a:schemeClr val="bg2"/>
            </a:solidFill>
            <a:prstDash val="solid"/>
          </a:ln>
        </p:spPr>
      </p:sp>
      <p:sp>
        <p:nvSpPr>
          <p:cNvPr id="8" name="Text 6"/>
          <p:cNvSpPr txBox="1"/>
          <p:nvPr/>
        </p:nvSpPr>
        <p:spPr>
          <a:xfrm>
            <a:off x="4160520" y="2788920"/>
            <a:ext cx="2834640" cy="530352"/>
          </a:xfrm>
          <a:prstGeom prst="rect">
            <a:avLst/>
          </a:prstGeom>
          <a:noFill/>
          <a:ln/>
        </p:spPr>
        <p:txBody>
          <a:bodyPr wrap="square" lIns="0" tIns="0" rIns="0" bIns="0" rtlCol="0" anchor="ctr"/>
          <a:lstStyle/>
          <a:p>
            <a:pPr indent="0" marL="0">
              <a:buNone/>
            </a:pPr>
            <a:r>
              <a:rPr lang="en-US" sz="1500" dirty="0">
                <a:solidFill>
                  <a:schemeClr val="tx1"/>
                </a:solidFill>
              </a:rPr>
              <a:t>Under invoicing</a:t>
            </a:r>
            <a:endParaRPr lang="en-US" sz="1500" dirty="0"/>
          </a:p>
        </p:txBody>
      </p:sp>
      <p:sp>
        <p:nvSpPr>
          <p:cNvPr id="9" name="Method 3"/>
          <p:cNvSpPr/>
          <p:nvPr/>
        </p:nvSpPr>
        <p:spPr>
          <a:xfrm>
            <a:off x="548640" y="3447288"/>
            <a:ext cx="3200400" cy="530352"/>
          </a:xfrm>
          <a:prstGeom prst="roundRect">
            <a:avLst>
              <a:gd name="adj" fmla="val 13793"/>
            </a:avLst>
          </a:prstGeom>
          <a:solidFill>
            <a:schemeClr val="bg2"/>
          </a:solidFill>
          <a:ln w="12700">
            <a:solidFill>
              <a:schemeClr val="bg2"/>
            </a:solidFill>
            <a:prstDash val="solid"/>
          </a:ln>
        </p:spPr>
      </p:sp>
      <p:sp>
        <p:nvSpPr>
          <p:cNvPr id="10" name="Text 8"/>
          <p:cNvSpPr txBox="1"/>
          <p:nvPr/>
        </p:nvSpPr>
        <p:spPr>
          <a:xfrm>
            <a:off x="777240" y="3447288"/>
            <a:ext cx="2834640" cy="530352"/>
          </a:xfrm>
          <a:prstGeom prst="rect">
            <a:avLst/>
          </a:prstGeom>
          <a:noFill/>
          <a:ln/>
        </p:spPr>
        <p:txBody>
          <a:bodyPr wrap="square" lIns="0" tIns="0" rIns="0" bIns="0" rtlCol="0" anchor="ctr"/>
          <a:lstStyle/>
          <a:p>
            <a:pPr indent="0" marL="0">
              <a:buNone/>
            </a:pPr>
            <a:r>
              <a:rPr lang="en-US" sz="1500" dirty="0">
                <a:solidFill>
                  <a:schemeClr val="tx1"/>
                </a:solidFill>
              </a:rPr>
              <a:t>Multiple invoicing</a:t>
            </a:r>
            <a:endParaRPr lang="en-US" sz="1500" dirty="0"/>
          </a:p>
        </p:txBody>
      </p:sp>
      <p:sp>
        <p:nvSpPr>
          <p:cNvPr id="11" name="Method 4"/>
          <p:cNvSpPr/>
          <p:nvPr/>
        </p:nvSpPr>
        <p:spPr>
          <a:xfrm>
            <a:off x="3931920" y="3447288"/>
            <a:ext cx="3200400" cy="530352"/>
          </a:xfrm>
          <a:prstGeom prst="roundRect">
            <a:avLst>
              <a:gd name="adj" fmla="val 13793"/>
            </a:avLst>
          </a:prstGeom>
          <a:solidFill>
            <a:schemeClr val="bg2"/>
          </a:solidFill>
          <a:ln w="12700">
            <a:solidFill>
              <a:schemeClr val="bg2"/>
            </a:solidFill>
            <a:prstDash val="solid"/>
          </a:ln>
        </p:spPr>
      </p:sp>
      <p:sp>
        <p:nvSpPr>
          <p:cNvPr id="12" name="Text 10"/>
          <p:cNvSpPr txBox="1"/>
          <p:nvPr/>
        </p:nvSpPr>
        <p:spPr>
          <a:xfrm>
            <a:off x="4160520" y="3447288"/>
            <a:ext cx="2834640" cy="530352"/>
          </a:xfrm>
          <a:prstGeom prst="rect">
            <a:avLst/>
          </a:prstGeom>
          <a:noFill/>
          <a:ln/>
        </p:spPr>
        <p:txBody>
          <a:bodyPr wrap="square" lIns="0" tIns="0" rIns="0" bIns="0" rtlCol="0" anchor="ctr"/>
          <a:lstStyle/>
          <a:p>
            <a:pPr indent="0" marL="0">
              <a:buNone/>
            </a:pPr>
            <a:r>
              <a:rPr lang="en-US" sz="1500" dirty="0">
                <a:solidFill>
                  <a:schemeClr val="tx1"/>
                </a:solidFill>
              </a:rPr>
              <a:t>Short shipment</a:t>
            </a:r>
            <a:endParaRPr lang="en-US" sz="1500" dirty="0"/>
          </a:p>
        </p:txBody>
      </p:sp>
      <p:sp>
        <p:nvSpPr>
          <p:cNvPr id="13" name="Method 5"/>
          <p:cNvSpPr/>
          <p:nvPr/>
        </p:nvSpPr>
        <p:spPr>
          <a:xfrm>
            <a:off x="548640" y="4105656"/>
            <a:ext cx="3200400" cy="530352"/>
          </a:xfrm>
          <a:prstGeom prst="roundRect">
            <a:avLst>
              <a:gd name="adj" fmla="val 13793"/>
            </a:avLst>
          </a:prstGeom>
          <a:solidFill>
            <a:schemeClr val="bg2"/>
          </a:solidFill>
          <a:ln w="12700">
            <a:solidFill>
              <a:schemeClr val="bg2"/>
            </a:solidFill>
            <a:prstDash val="solid"/>
          </a:ln>
        </p:spPr>
      </p:sp>
      <p:sp>
        <p:nvSpPr>
          <p:cNvPr id="14" name="Text 12"/>
          <p:cNvSpPr txBox="1"/>
          <p:nvPr/>
        </p:nvSpPr>
        <p:spPr>
          <a:xfrm>
            <a:off x="777240" y="4105656"/>
            <a:ext cx="2834640" cy="530352"/>
          </a:xfrm>
          <a:prstGeom prst="rect">
            <a:avLst/>
          </a:prstGeom>
          <a:noFill/>
          <a:ln/>
        </p:spPr>
        <p:txBody>
          <a:bodyPr wrap="square" lIns="0" tIns="0" rIns="0" bIns="0" rtlCol="0" anchor="ctr"/>
          <a:lstStyle/>
          <a:p>
            <a:pPr indent="0" marL="0">
              <a:buNone/>
            </a:pPr>
            <a:r>
              <a:rPr lang="en-US" sz="1500" dirty="0">
                <a:solidFill>
                  <a:schemeClr val="tx1"/>
                </a:solidFill>
              </a:rPr>
              <a:t>Over shipment</a:t>
            </a:r>
            <a:endParaRPr lang="en-US" sz="1500" dirty="0"/>
          </a:p>
        </p:txBody>
      </p:sp>
      <p:sp>
        <p:nvSpPr>
          <p:cNvPr id="15" name="Method 6"/>
          <p:cNvSpPr/>
          <p:nvPr/>
        </p:nvSpPr>
        <p:spPr>
          <a:xfrm>
            <a:off x="3931920" y="4105656"/>
            <a:ext cx="3200400" cy="530352"/>
          </a:xfrm>
          <a:prstGeom prst="roundRect">
            <a:avLst>
              <a:gd name="adj" fmla="val 13793"/>
            </a:avLst>
          </a:prstGeom>
          <a:solidFill>
            <a:schemeClr val="bg2"/>
          </a:solidFill>
          <a:ln w="12700">
            <a:solidFill>
              <a:schemeClr val="bg2"/>
            </a:solidFill>
            <a:prstDash val="solid"/>
          </a:ln>
        </p:spPr>
      </p:sp>
      <p:sp>
        <p:nvSpPr>
          <p:cNvPr id="16" name="Text 14"/>
          <p:cNvSpPr txBox="1"/>
          <p:nvPr/>
        </p:nvSpPr>
        <p:spPr>
          <a:xfrm>
            <a:off x="4160520" y="4105656"/>
            <a:ext cx="2834640" cy="530352"/>
          </a:xfrm>
          <a:prstGeom prst="rect">
            <a:avLst/>
          </a:prstGeom>
          <a:noFill/>
          <a:ln/>
        </p:spPr>
        <p:txBody>
          <a:bodyPr wrap="square" lIns="0" tIns="0" rIns="0" bIns="0" rtlCol="0" anchor="ctr"/>
          <a:lstStyle/>
          <a:p>
            <a:pPr indent="0" marL="0">
              <a:buNone/>
            </a:pPr>
            <a:r>
              <a:rPr lang="en-US" sz="1500" dirty="0">
                <a:solidFill>
                  <a:schemeClr val="tx1"/>
                </a:solidFill>
              </a:rPr>
              <a:t>Phantom shipment</a:t>
            </a:r>
            <a:endParaRPr lang="en-US" sz="1500" dirty="0"/>
          </a:p>
        </p:txBody>
      </p:sp>
      <p:sp>
        <p:nvSpPr>
          <p:cNvPr id="17" name="Method 7"/>
          <p:cNvSpPr/>
          <p:nvPr/>
        </p:nvSpPr>
        <p:spPr>
          <a:xfrm>
            <a:off x="548640" y="4764024"/>
            <a:ext cx="3200400" cy="530352"/>
          </a:xfrm>
          <a:prstGeom prst="roundRect">
            <a:avLst>
              <a:gd name="adj" fmla="val 13793"/>
            </a:avLst>
          </a:prstGeom>
          <a:solidFill>
            <a:schemeClr val="bg2"/>
          </a:solidFill>
          <a:ln w="12700">
            <a:solidFill>
              <a:schemeClr val="bg2"/>
            </a:solidFill>
            <a:prstDash val="solid"/>
          </a:ln>
        </p:spPr>
      </p:sp>
      <p:sp>
        <p:nvSpPr>
          <p:cNvPr id="18" name="Text 16"/>
          <p:cNvSpPr txBox="1"/>
          <p:nvPr/>
        </p:nvSpPr>
        <p:spPr>
          <a:xfrm>
            <a:off x="777240" y="4764024"/>
            <a:ext cx="2834640" cy="530352"/>
          </a:xfrm>
          <a:prstGeom prst="rect">
            <a:avLst/>
          </a:prstGeom>
          <a:noFill/>
          <a:ln/>
        </p:spPr>
        <p:txBody>
          <a:bodyPr wrap="square" lIns="0" tIns="0" rIns="0" bIns="0" rtlCol="0" anchor="ctr"/>
          <a:lstStyle/>
          <a:p>
            <a:pPr indent="0" marL="0">
              <a:buNone/>
            </a:pPr>
            <a:r>
              <a:rPr lang="en-US" sz="1500" dirty="0">
                <a:solidFill>
                  <a:schemeClr val="tx1"/>
                </a:solidFill>
              </a:rPr>
              <a:t>Complex payment chains</a:t>
            </a:r>
            <a:endParaRPr lang="en-US" sz="1500" dirty="0"/>
          </a:p>
        </p:txBody>
      </p:sp>
      <p:sp>
        <p:nvSpPr>
          <p:cNvPr id="19" name="Method 8"/>
          <p:cNvSpPr/>
          <p:nvPr/>
        </p:nvSpPr>
        <p:spPr>
          <a:xfrm>
            <a:off x="3931920" y="4764024"/>
            <a:ext cx="3200400" cy="530352"/>
          </a:xfrm>
          <a:prstGeom prst="roundRect">
            <a:avLst>
              <a:gd name="adj" fmla="val 13793"/>
            </a:avLst>
          </a:prstGeom>
          <a:solidFill>
            <a:schemeClr val="bg2"/>
          </a:solidFill>
          <a:ln w="12700">
            <a:solidFill>
              <a:schemeClr val="bg2"/>
            </a:solidFill>
            <a:prstDash val="solid"/>
          </a:ln>
        </p:spPr>
      </p:sp>
      <p:sp>
        <p:nvSpPr>
          <p:cNvPr id="20" name="Text 18"/>
          <p:cNvSpPr txBox="1"/>
          <p:nvPr/>
        </p:nvSpPr>
        <p:spPr>
          <a:xfrm>
            <a:off x="4160520" y="4764024"/>
            <a:ext cx="2834640" cy="530352"/>
          </a:xfrm>
          <a:prstGeom prst="rect">
            <a:avLst/>
          </a:prstGeom>
          <a:noFill/>
          <a:ln/>
        </p:spPr>
        <p:txBody>
          <a:bodyPr wrap="square" lIns="0" tIns="0" rIns="0" bIns="0" rtlCol="0" anchor="ctr"/>
          <a:lstStyle/>
          <a:p>
            <a:pPr indent="0" marL="0">
              <a:buNone/>
            </a:pPr>
            <a:r>
              <a:rPr lang="en-US" sz="1500" dirty="0">
                <a:solidFill>
                  <a:schemeClr val="tx1"/>
                </a:solidFill>
              </a:rPr>
              <a:t>Unexplained discounts</a:t>
            </a:r>
            <a:endParaRPr lang="en-US" sz="1500" dirty="0"/>
          </a:p>
        </p:txBody>
      </p:sp>
      <p:sp>
        <p:nvSpPr>
          <p:cNvPr id="21" name="Method 9"/>
          <p:cNvSpPr/>
          <p:nvPr/>
        </p:nvSpPr>
        <p:spPr>
          <a:xfrm>
            <a:off x="548640" y="5422392"/>
            <a:ext cx="3200400" cy="530352"/>
          </a:xfrm>
          <a:prstGeom prst="roundRect">
            <a:avLst>
              <a:gd name="adj" fmla="val 13793"/>
            </a:avLst>
          </a:prstGeom>
          <a:solidFill>
            <a:schemeClr val="bg2"/>
          </a:solidFill>
          <a:ln w="12700">
            <a:solidFill>
              <a:schemeClr val="bg2"/>
            </a:solidFill>
            <a:prstDash val="solid"/>
          </a:ln>
        </p:spPr>
      </p:sp>
      <p:sp>
        <p:nvSpPr>
          <p:cNvPr id="22" name="Text 20"/>
          <p:cNvSpPr txBox="1"/>
          <p:nvPr/>
        </p:nvSpPr>
        <p:spPr>
          <a:xfrm>
            <a:off x="777240" y="5422392"/>
            <a:ext cx="2834640" cy="530352"/>
          </a:xfrm>
          <a:prstGeom prst="rect">
            <a:avLst/>
          </a:prstGeom>
          <a:noFill/>
          <a:ln/>
        </p:spPr>
        <p:txBody>
          <a:bodyPr wrap="square" lIns="0" tIns="0" rIns="0" bIns="0" rtlCol="0" anchor="ctr"/>
          <a:lstStyle/>
          <a:p>
            <a:pPr indent="0" marL="0">
              <a:buNone/>
            </a:pPr>
            <a:r>
              <a:rPr lang="en-US" sz="1500" dirty="0">
                <a:solidFill>
                  <a:schemeClr val="tx1"/>
                </a:solidFill>
              </a:rPr>
              <a:t>Price changes</a:t>
            </a:r>
            <a:endParaRPr lang="en-US" sz="1500" dirty="0"/>
          </a:p>
        </p:txBody>
      </p:sp>
      <p:sp>
        <p:nvSpPr>
          <p:cNvPr id="23" name="Method 10"/>
          <p:cNvSpPr/>
          <p:nvPr/>
        </p:nvSpPr>
        <p:spPr>
          <a:xfrm>
            <a:off x="3931920" y="5422392"/>
            <a:ext cx="3200400" cy="530352"/>
          </a:xfrm>
          <a:prstGeom prst="roundRect">
            <a:avLst>
              <a:gd name="adj" fmla="val 13793"/>
            </a:avLst>
          </a:prstGeom>
          <a:solidFill>
            <a:schemeClr val="bg2"/>
          </a:solidFill>
          <a:ln w="12700">
            <a:solidFill>
              <a:schemeClr val="bg2"/>
            </a:solidFill>
            <a:prstDash val="solid"/>
          </a:ln>
        </p:spPr>
      </p:sp>
      <p:sp>
        <p:nvSpPr>
          <p:cNvPr id="24" name="Text 22"/>
          <p:cNvSpPr txBox="1"/>
          <p:nvPr/>
        </p:nvSpPr>
        <p:spPr>
          <a:xfrm>
            <a:off x="4160520" y="5422392"/>
            <a:ext cx="2834640" cy="530352"/>
          </a:xfrm>
          <a:prstGeom prst="rect">
            <a:avLst/>
          </a:prstGeom>
          <a:noFill/>
          <a:ln/>
        </p:spPr>
        <p:txBody>
          <a:bodyPr wrap="square" lIns="0" tIns="0" rIns="0" bIns="0" rtlCol="0" anchor="ctr"/>
          <a:lstStyle/>
          <a:p>
            <a:pPr indent="0" marL="0">
              <a:buNone/>
            </a:pPr>
            <a:r>
              <a:rPr lang="en-US" sz="1500" dirty="0">
                <a:solidFill>
                  <a:schemeClr val="tx1"/>
                </a:solidFill>
              </a:rPr>
              <a:t>Inflated freight</a:t>
            </a:r>
            <a:endParaRPr lang="en-US" sz="1500" dirty="0"/>
          </a:p>
        </p:txBody>
      </p:sp>
      <p:sp>
        <p:nvSpPr>
          <p:cNvPr id="25" name="Penalty panel"/>
          <p:cNvSpPr/>
          <p:nvPr/>
        </p:nvSpPr>
        <p:spPr>
          <a:xfrm>
            <a:off x="7589520" y="1325880"/>
            <a:ext cx="4053535" cy="4846320"/>
          </a:xfrm>
          <a:prstGeom prst="roundRect">
            <a:avLst>
              <a:gd name="adj" fmla="val 1805"/>
            </a:avLst>
          </a:prstGeom>
          <a:solidFill>
            <a:schemeClr val="tx2"/>
          </a:solidFill>
          <a:ln w="12700">
            <a:solidFill>
              <a:schemeClr val="tx2"/>
            </a:solidFill>
            <a:prstDash val="solid"/>
          </a:ln>
        </p:spPr>
      </p:sp>
      <p:sp>
        <p:nvSpPr>
          <p:cNvPr id="26" name="Text 24"/>
          <p:cNvSpPr txBox="1"/>
          <p:nvPr/>
        </p:nvSpPr>
        <p:spPr>
          <a:xfrm>
            <a:off x="7909560" y="1554480"/>
            <a:ext cx="3413455" cy="365760"/>
          </a:xfrm>
          <a:prstGeom prst="rect">
            <a:avLst/>
          </a:prstGeom>
          <a:noFill/>
          <a:ln/>
        </p:spPr>
        <p:txBody>
          <a:bodyPr wrap="square" lIns="0" tIns="0" rIns="0" bIns="0" rtlCol="0" anchor="ctr"/>
          <a:lstStyle/>
          <a:p>
            <a:pPr indent="0" marL="0">
              <a:buNone/>
            </a:pPr>
            <a:r>
              <a:rPr lang="en-US" sz="1600" b="1" dirty="0">
                <a:solidFill>
                  <a:schemeClr val="accent6"/>
                </a:solidFill>
              </a:rPr>
              <a:t>Penalties under MLPA 2012</a:t>
            </a:r>
            <a:endParaRPr lang="en-US" sz="1600" dirty="0"/>
          </a:p>
        </p:txBody>
      </p:sp>
      <p:sp>
        <p:nvSpPr>
          <p:cNvPr id="27" name="Text 25"/>
          <p:cNvSpPr txBox="1"/>
          <p:nvPr/>
        </p:nvSpPr>
        <p:spPr>
          <a:xfrm>
            <a:off x="7909560" y="2057400"/>
            <a:ext cx="3413455" cy="73152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4 to 12 yrs</a:t>
            </a:r>
            <a:endParaRPr lang="en-US" sz="4000" dirty="0"/>
          </a:p>
        </p:txBody>
      </p:sp>
      <p:sp>
        <p:nvSpPr>
          <p:cNvPr id="28" name="Text 26"/>
          <p:cNvSpPr txBox="1"/>
          <p:nvPr/>
        </p:nvSpPr>
        <p:spPr>
          <a:xfrm>
            <a:off x="7909560" y="2788920"/>
            <a:ext cx="3413455" cy="914400"/>
          </a:xfrm>
          <a:prstGeom prst="rect">
            <a:avLst/>
          </a:prstGeom>
          <a:noFill/>
          <a:ln/>
        </p:spPr>
        <p:txBody>
          <a:bodyPr wrap="square" lIns="0" tIns="0" rIns="0" bIns="0" rtlCol="0" anchor="ctr"/>
          <a:lstStyle/>
          <a:p>
            <a:pPr indent="0" marL="0">
              <a:buNone/>
            </a:pPr>
            <a:r>
              <a:rPr lang="en-US" sz="1400" dirty="0">
                <a:solidFill>
                  <a:schemeClr val="bg1"/>
                </a:solidFill>
              </a:rPr>
              <a:t>imprisonment for individuals, plus a fine of twice the value involved or BDT 1 million, whichever is higher</a:t>
            </a:r>
            <a:endParaRPr lang="en-US" sz="1400" dirty="0"/>
          </a:p>
        </p:txBody>
      </p:sp>
      <p:sp>
        <p:nvSpPr>
          <p:cNvPr id="29" name="Text 27"/>
          <p:cNvSpPr txBox="1"/>
          <p:nvPr/>
        </p:nvSpPr>
        <p:spPr>
          <a:xfrm>
            <a:off x="7909560" y="3931920"/>
            <a:ext cx="3413455" cy="73152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2x value</a:t>
            </a:r>
            <a:endParaRPr lang="en-US" sz="4000" dirty="0"/>
          </a:p>
        </p:txBody>
      </p:sp>
      <p:sp>
        <p:nvSpPr>
          <p:cNvPr id="30" name="Text 28"/>
          <p:cNvSpPr txBox="1"/>
          <p:nvPr/>
        </p:nvSpPr>
        <p:spPr>
          <a:xfrm>
            <a:off x="7909560" y="4663440"/>
            <a:ext cx="3413455" cy="822960"/>
          </a:xfrm>
          <a:prstGeom prst="rect">
            <a:avLst/>
          </a:prstGeom>
          <a:noFill/>
          <a:ln/>
        </p:spPr>
        <p:txBody>
          <a:bodyPr wrap="square" lIns="0" tIns="0" rIns="0" bIns="0" rtlCol="0" anchor="ctr"/>
          <a:lstStyle/>
          <a:p>
            <a:pPr indent="0" marL="0">
              <a:buNone/>
            </a:pPr>
            <a:r>
              <a:rPr lang="en-US" sz="1400" dirty="0">
                <a:solidFill>
                  <a:schemeClr val="bg1"/>
                </a:solidFill>
              </a:rPr>
              <a:t>or BDT 2 million minimum fine for an entity, and its licence can be cancelled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Where Bangladesh trade is exposed</a:t>
            </a:r>
            <a:endParaRPr lang="en-US" sz="3200" dirty="0"/>
          </a:p>
        </p:txBody>
      </p:sp>
      <p:sp>
        <p:nvSpPr>
          <p:cNvPr id="3" name="Imports card"/>
          <p:cNvSpPr/>
          <p:nvPr/>
        </p:nvSpPr>
        <p:spPr>
          <a:xfrm>
            <a:off x="548640" y="1371600"/>
            <a:ext cx="2567864" cy="4754880"/>
          </a:xfrm>
          <a:prstGeom prst="roundRect">
            <a:avLst>
              <a:gd name="adj" fmla="val 2849"/>
            </a:avLst>
          </a:prstGeom>
          <a:solidFill>
            <a:schemeClr val="bg2"/>
          </a:solidFill>
          <a:ln w="12700">
            <a:solidFill>
              <a:schemeClr val="bg2"/>
            </a:solidFill>
            <a:prstDash val="solid"/>
          </a:ln>
        </p:spPr>
      </p:sp>
      <p:sp>
        <p:nvSpPr>
          <p:cNvPr id="4" name="Imports circle"/>
          <p:cNvSpPr/>
          <p:nvPr/>
        </p:nvSpPr>
        <p:spPr>
          <a:xfrm>
            <a:off x="822960" y="1645920"/>
            <a:ext cx="731520" cy="731520"/>
          </a:xfrm>
          <a:prstGeom prst="ellipse">
            <a:avLst/>
          </a:prstGeom>
          <a:solidFill>
            <a:srgbClr val="912125"/>
          </a:solidFill>
          <a:ln w="12700">
            <a:solidFill>
              <a:srgbClr val="912125"/>
            </a:solidFill>
            <a:prstDash val="solid"/>
          </a:ln>
        </p:spPr>
      </p:sp>
      <p:pic>
        <p:nvPicPr>
          <p:cNvPr id="5" name="Imports icon" descr="preencoded.png">    </p:cNvPr>
          <p:cNvPicPr>
            <a:picLocks noChangeAspect="1"/>
          </p:cNvPicPr>
          <p:nvPr/>
        </p:nvPicPr>
        <p:blipFill>
          <a:blip r:embed="rId1"/>
          <a:stretch>
            <a:fillRect/>
          </a:stretch>
        </p:blipFill>
        <p:spPr>
          <a:xfrm>
            <a:off x="1005840" y="1828800"/>
            <a:ext cx="365760" cy="365760"/>
          </a:xfrm>
          <a:prstGeom prst="rect">
            <a:avLst/>
          </a:prstGeom>
        </p:spPr>
      </p:pic>
      <p:sp>
        <p:nvSpPr>
          <p:cNvPr id="6" name="Text 3"/>
          <p:cNvSpPr txBox="1"/>
          <p:nvPr/>
        </p:nvSpPr>
        <p:spPr>
          <a:xfrm>
            <a:off x="822960" y="2514600"/>
            <a:ext cx="2019224"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Imports</a:t>
            </a:r>
            <a:endParaRPr lang="en-US" sz="2000" dirty="0"/>
          </a:p>
        </p:txBody>
      </p:sp>
      <p:sp>
        <p:nvSpPr>
          <p:cNvPr id="7" name="Text 4"/>
          <p:cNvSpPr txBox="1"/>
          <p:nvPr/>
        </p:nvSpPr>
        <p:spPr>
          <a:xfrm>
            <a:off x="822960" y="3063240"/>
            <a:ext cx="2110664" cy="28346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Freight billed at several times FOB value</a:t>
            </a:r>
            <a:endParaRPr lang="en-US" sz="1500" dirty="0"/>
          </a:p>
          <a:p>
            <a:pPr marL="177800" indent="-177800">
              <a:spcAft>
                <a:spcPts val="500"/>
              </a:spcAft>
              <a:buSzPct val="100000"/>
              <a:buChar char="•"/>
            </a:pPr>
            <a:r>
              <a:rPr lang="en-US" sz="1500" dirty="0">
                <a:solidFill>
                  <a:schemeClr val="tx1"/>
                </a:solidFill>
              </a:rPr>
              <a:t>Under-invoicing, with the gap paid via hundi or hawala</a:t>
            </a:r>
            <a:endParaRPr lang="en-US" sz="1500" dirty="0"/>
          </a:p>
          <a:p>
            <a:pPr marL="177800" indent="-177800">
              <a:spcAft>
                <a:spcPts val="500"/>
              </a:spcAft>
              <a:buSzPct val="100000"/>
              <a:buChar char="•"/>
            </a:pPr>
            <a:r>
              <a:rPr lang="en-US" sz="1500" dirty="0">
                <a:solidFill>
                  <a:schemeClr val="tx1"/>
                </a:solidFill>
              </a:rPr>
              <a:t>Free-of-cost raw materials never matched to value</a:t>
            </a:r>
            <a:endParaRPr lang="en-US" sz="1500" dirty="0"/>
          </a:p>
        </p:txBody>
      </p:sp>
      <p:sp>
        <p:nvSpPr>
          <p:cNvPr id="8" name="Exports card"/>
          <p:cNvSpPr/>
          <p:nvPr/>
        </p:nvSpPr>
        <p:spPr>
          <a:xfrm>
            <a:off x="3390824" y="1371600"/>
            <a:ext cx="2567864" cy="4754880"/>
          </a:xfrm>
          <a:prstGeom prst="roundRect">
            <a:avLst>
              <a:gd name="adj" fmla="val 2849"/>
            </a:avLst>
          </a:prstGeom>
          <a:solidFill>
            <a:schemeClr val="bg2"/>
          </a:solidFill>
          <a:ln w="12700">
            <a:solidFill>
              <a:schemeClr val="bg2"/>
            </a:solidFill>
            <a:prstDash val="solid"/>
          </a:ln>
        </p:spPr>
      </p:sp>
      <p:sp>
        <p:nvSpPr>
          <p:cNvPr id="9" name="Exports circle"/>
          <p:cNvSpPr/>
          <p:nvPr/>
        </p:nvSpPr>
        <p:spPr>
          <a:xfrm>
            <a:off x="3665144" y="1645920"/>
            <a:ext cx="731520" cy="731520"/>
          </a:xfrm>
          <a:prstGeom prst="ellipse">
            <a:avLst/>
          </a:prstGeom>
          <a:solidFill>
            <a:srgbClr val="912125"/>
          </a:solidFill>
          <a:ln w="12700">
            <a:solidFill>
              <a:srgbClr val="912125"/>
            </a:solidFill>
            <a:prstDash val="solid"/>
          </a:ln>
        </p:spPr>
      </p:sp>
      <p:pic>
        <p:nvPicPr>
          <p:cNvPr id="10" name="Exports icon" descr="preencoded.png">    </p:cNvPr>
          <p:cNvPicPr>
            <a:picLocks noChangeAspect="1"/>
          </p:cNvPicPr>
          <p:nvPr/>
        </p:nvPicPr>
        <p:blipFill>
          <a:blip r:embed="rId2"/>
          <a:stretch>
            <a:fillRect/>
          </a:stretch>
        </p:blipFill>
        <p:spPr>
          <a:xfrm>
            <a:off x="3848024" y="1828800"/>
            <a:ext cx="365760" cy="365760"/>
          </a:xfrm>
          <a:prstGeom prst="rect">
            <a:avLst/>
          </a:prstGeom>
        </p:spPr>
      </p:pic>
      <p:sp>
        <p:nvSpPr>
          <p:cNvPr id="11" name="Text 7"/>
          <p:cNvSpPr txBox="1"/>
          <p:nvPr/>
        </p:nvSpPr>
        <p:spPr>
          <a:xfrm>
            <a:off x="3665144" y="2514600"/>
            <a:ext cx="2019224"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Exports</a:t>
            </a:r>
            <a:endParaRPr lang="en-US" sz="2000" dirty="0"/>
          </a:p>
        </p:txBody>
      </p:sp>
      <p:sp>
        <p:nvSpPr>
          <p:cNvPr id="12" name="Text 8"/>
          <p:cNvSpPr txBox="1"/>
          <p:nvPr/>
        </p:nvSpPr>
        <p:spPr>
          <a:xfrm>
            <a:off x="3665144" y="3063240"/>
            <a:ext cx="2110664" cy="28346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Under-invoicing to park money abroad</a:t>
            </a:r>
            <a:endParaRPr lang="en-US" sz="1500" dirty="0"/>
          </a:p>
          <a:p>
            <a:pPr marL="177800" indent="-177800">
              <a:spcAft>
                <a:spcPts val="500"/>
              </a:spcAft>
              <a:buSzPct val="100000"/>
              <a:buChar char="•"/>
            </a:pPr>
            <a:r>
              <a:rPr lang="en-US" sz="1500" dirty="0">
                <a:solidFill>
                  <a:schemeClr val="tx1"/>
                </a:solidFill>
              </a:rPr>
              <a:t>Proceeds not repatriated within 4 months</a:t>
            </a:r>
            <a:endParaRPr lang="en-US" sz="1500" dirty="0"/>
          </a:p>
          <a:p>
            <a:pPr marL="177800" indent="-177800">
              <a:spcAft>
                <a:spcPts val="500"/>
              </a:spcAft>
              <a:buSzPct val="100000"/>
              <a:buChar char="•"/>
            </a:pPr>
            <a:r>
              <a:rPr lang="en-US" sz="1500" dirty="0">
                <a:solidFill>
                  <a:schemeClr val="tx1"/>
                </a:solidFill>
              </a:rPr>
              <a:t>Remittances passed off as export to claim cash incentives</a:t>
            </a:r>
            <a:endParaRPr lang="en-US" sz="1500" dirty="0"/>
          </a:p>
        </p:txBody>
      </p:sp>
      <p:sp>
        <p:nvSpPr>
          <p:cNvPr id="13" name="Services &amp; fees card"/>
          <p:cNvSpPr/>
          <p:nvPr/>
        </p:nvSpPr>
        <p:spPr>
          <a:xfrm>
            <a:off x="6233008" y="1371600"/>
            <a:ext cx="2567864" cy="4754880"/>
          </a:xfrm>
          <a:prstGeom prst="roundRect">
            <a:avLst>
              <a:gd name="adj" fmla="val 2849"/>
            </a:avLst>
          </a:prstGeom>
          <a:solidFill>
            <a:schemeClr val="bg2"/>
          </a:solidFill>
          <a:ln w="12700">
            <a:solidFill>
              <a:schemeClr val="bg2"/>
            </a:solidFill>
            <a:prstDash val="solid"/>
          </a:ln>
        </p:spPr>
      </p:sp>
      <p:sp>
        <p:nvSpPr>
          <p:cNvPr id="14" name="Services &amp; fees circle"/>
          <p:cNvSpPr/>
          <p:nvPr/>
        </p:nvSpPr>
        <p:spPr>
          <a:xfrm>
            <a:off x="6507328" y="1645920"/>
            <a:ext cx="731520" cy="731520"/>
          </a:xfrm>
          <a:prstGeom prst="ellipse">
            <a:avLst/>
          </a:prstGeom>
          <a:solidFill>
            <a:srgbClr val="912125"/>
          </a:solidFill>
          <a:ln w="12700">
            <a:solidFill>
              <a:srgbClr val="912125"/>
            </a:solidFill>
            <a:prstDash val="solid"/>
          </a:ln>
        </p:spPr>
      </p:sp>
      <p:pic>
        <p:nvPicPr>
          <p:cNvPr id="15" name="Services &amp; fees icon" descr="preencoded.png">    </p:cNvPr>
          <p:cNvPicPr>
            <a:picLocks noChangeAspect="1"/>
          </p:cNvPicPr>
          <p:nvPr/>
        </p:nvPicPr>
        <p:blipFill>
          <a:blip r:embed="rId3"/>
          <a:stretch>
            <a:fillRect/>
          </a:stretch>
        </p:blipFill>
        <p:spPr>
          <a:xfrm>
            <a:off x="6690208" y="1828800"/>
            <a:ext cx="365760" cy="365760"/>
          </a:xfrm>
          <a:prstGeom prst="rect">
            <a:avLst/>
          </a:prstGeom>
        </p:spPr>
      </p:pic>
      <p:sp>
        <p:nvSpPr>
          <p:cNvPr id="16" name="Text 11"/>
          <p:cNvSpPr txBox="1"/>
          <p:nvPr/>
        </p:nvSpPr>
        <p:spPr>
          <a:xfrm>
            <a:off x="6507328" y="2514600"/>
            <a:ext cx="2019224"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Services &amp; fees</a:t>
            </a:r>
            <a:endParaRPr lang="en-US" sz="2000" dirty="0"/>
          </a:p>
        </p:txBody>
      </p:sp>
      <p:sp>
        <p:nvSpPr>
          <p:cNvPr id="17" name="Text 12"/>
          <p:cNvSpPr txBox="1"/>
          <p:nvPr/>
        </p:nvSpPr>
        <p:spPr>
          <a:xfrm>
            <a:off x="6507328" y="3063240"/>
            <a:ext cx="2110664" cy="28346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Software and other non-physical goods are hard to trace</a:t>
            </a:r>
            <a:endParaRPr lang="en-US" sz="1500" dirty="0"/>
          </a:p>
          <a:p>
            <a:pPr marL="177800" indent="-177800">
              <a:spcAft>
                <a:spcPts val="500"/>
              </a:spcAft>
              <a:buSzPct val="100000"/>
              <a:buChar char="•"/>
            </a:pPr>
            <a:r>
              <a:rPr lang="en-US" sz="1500" dirty="0">
                <a:solidFill>
                  <a:schemeClr val="tx1"/>
                </a:solidFill>
              </a:rPr>
              <a:t>Royalty and technical fees under vague agreements</a:t>
            </a:r>
            <a:endParaRPr lang="en-US" sz="1500" dirty="0"/>
          </a:p>
          <a:p>
            <a:pPr marL="177800" indent="-177800">
              <a:spcAft>
                <a:spcPts val="500"/>
              </a:spcAft>
              <a:buSzPct val="100000"/>
              <a:buChar char="•"/>
            </a:pPr>
            <a:r>
              <a:rPr lang="en-US" sz="1500" dirty="0">
                <a:solidFill>
                  <a:schemeClr val="tx1"/>
                </a:solidFill>
              </a:rPr>
              <a:t>Weak due diligence on the underlying trade</a:t>
            </a:r>
            <a:endParaRPr lang="en-US" sz="1500" dirty="0"/>
          </a:p>
        </p:txBody>
      </p:sp>
      <p:sp>
        <p:nvSpPr>
          <p:cNvPr id="18" name="OBUs &amp; zones card"/>
          <p:cNvSpPr/>
          <p:nvPr/>
        </p:nvSpPr>
        <p:spPr>
          <a:xfrm>
            <a:off x="9075191" y="1371600"/>
            <a:ext cx="2567864" cy="4754880"/>
          </a:xfrm>
          <a:prstGeom prst="roundRect">
            <a:avLst>
              <a:gd name="adj" fmla="val 2849"/>
            </a:avLst>
          </a:prstGeom>
          <a:solidFill>
            <a:schemeClr val="bg2"/>
          </a:solidFill>
          <a:ln w="12700">
            <a:solidFill>
              <a:schemeClr val="bg2"/>
            </a:solidFill>
            <a:prstDash val="solid"/>
          </a:ln>
        </p:spPr>
      </p:sp>
      <p:sp>
        <p:nvSpPr>
          <p:cNvPr id="19" name="OBUs &amp; zones circle"/>
          <p:cNvSpPr/>
          <p:nvPr/>
        </p:nvSpPr>
        <p:spPr>
          <a:xfrm>
            <a:off x="9349511" y="1645920"/>
            <a:ext cx="731520" cy="731520"/>
          </a:xfrm>
          <a:prstGeom prst="ellipse">
            <a:avLst/>
          </a:prstGeom>
          <a:solidFill>
            <a:srgbClr val="912125"/>
          </a:solidFill>
          <a:ln w="12700">
            <a:solidFill>
              <a:srgbClr val="912125"/>
            </a:solidFill>
            <a:prstDash val="solid"/>
          </a:ln>
        </p:spPr>
      </p:sp>
      <p:pic>
        <p:nvPicPr>
          <p:cNvPr id="20" name="OBUs &amp; zones icon" descr="preencoded.png">    </p:cNvPr>
          <p:cNvPicPr>
            <a:picLocks noChangeAspect="1"/>
          </p:cNvPicPr>
          <p:nvPr/>
        </p:nvPicPr>
        <p:blipFill>
          <a:blip r:embed="rId4"/>
          <a:stretch>
            <a:fillRect/>
          </a:stretch>
        </p:blipFill>
        <p:spPr>
          <a:xfrm>
            <a:off x="9532391" y="1828800"/>
            <a:ext cx="365760" cy="365760"/>
          </a:xfrm>
          <a:prstGeom prst="rect">
            <a:avLst/>
          </a:prstGeom>
        </p:spPr>
      </p:pic>
      <p:sp>
        <p:nvSpPr>
          <p:cNvPr id="21" name="Text 15"/>
          <p:cNvSpPr txBox="1"/>
          <p:nvPr/>
        </p:nvSpPr>
        <p:spPr>
          <a:xfrm>
            <a:off x="9349511" y="2514600"/>
            <a:ext cx="2019224"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OBUs &amp; zones</a:t>
            </a:r>
            <a:endParaRPr lang="en-US" sz="2000" dirty="0"/>
          </a:p>
        </p:txBody>
      </p:sp>
      <p:sp>
        <p:nvSpPr>
          <p:cNvPr id="22" name="Text 16"/>
          <p:cNvSpPr txBox="1"/>
          <p:nvPr/>
        </p:nvSpPr>
        <p:spPr>
          <a:xfrm>
            <a:off x="9349511" y="3063240"/>
            <a:ext cx="2110664" cy="28346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OBUs borrow at home and abroad, so risk is higher</a:t>
            </a:r>
            <a:endParaRPr lang="en-US" sz="1500" dirty="0"/>
          </a:p>
          <a:p>
            <a:pPr marL="177800" indent="-177800">
              <a:spcAft>
                <a:spcPts val="500"/>
              </a:spcAft>
              <a:buSzPct val="100000"/>
              <a:buChar char="•"/>
            </a:pPr>
            <a:r>
              <a:rPr lang="en-US" sz="1500" dirty="0">
                <a:solidFill>
                  <a:schemeClr val="tx1"/>
                </a:solidFill>
              </a:rPr>
              <a:t>Zone companies can wind up and leave debts behind</a:t>
            </a:r>
            <a:endParaRPr lang="en-US" sz="1500" dirty="0"/>
          </a:p>
          <a:p>
            <a:pPr marL="177800" indent="-177800">
              <a:spcAft>
                <a:spcPts val="500"/>
              </a:spcAft>
              <a:buSzPct val="100000"/>
              <a:buChar char="•"/>
            </a:pPr>
            <a:r>
              <a:rPr lang="en-US" sz="1500" dirty="0">
                <a:solidFill>
                  <a:schemeClr val="tx1"/>
                </a:solidFill>
              </a:rPr>
              <a:t>LCs between parent and affiliates can be staged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Seven challenges make TBML hard to stop</a:t>
            </a:r>
            <a:endParaRPr lang="en-US" sz="3200" dirty="0"/>
          </a:p>
        </p:txBody>
      </p:sp>
      <p:sp>
        <p:nvSpPr>
          <p:cNvPr id="3" name="Price verification card"/>
          <p:cNvSpPr/>
          <p:nvPr/>
        </p:nvSpPr>
        <p:spPr>
          <a:xfrm>
            <a:off x="548640" y="1371600"/>
            <a:ext cx="2567864" cy="2240280"/>
          </a:xfrm>
          <a:prstGeom prst="roundRect">
            <a:avLst>
              <a:gd name="adj" fmla="val 3265"/>
            </a:avLst>
          </a:prstGeom>
          <a:solidFill>
            <a:schemeClr val="bg2"/>
          </a:solidFill>
          <a:ln w="12700">
            <a:solidFill>
              <a:schemeClr val="bg2"/>
            </a:solidFill>
            <a:prstDash val="solid"/>
          </a:ln>
        </p:spPr>
      </p:sp>
      <p:sp>
        <p:nvSpPr>
          <p:cNvPr id="4" name="Price verification circle"/>
          <p:cNvSpPr/>
          <p:nvPr/>
        </p:nvSpPr>
        <p:spPr>
          <a:xfrm>
            <a:off x="822960" y="1645920"/>
            <a:ext cx="640080" cy="640080"/>
          </a:xfrm>
          <a:prstGeom prst="ellipse">
            <a:avLst/>
          </a:prstGeom>
          <a:solidFill>
            <a:srgbClr val="B83A2B"/>
          </a:solidFill>
          <a:ln w="12700">
            <a:solidFill>
              <a:srgbClr val="B83A2B"/>
            </a:solidFill>
            <a:prstDash val="solid"/>
          </a:ln>
        </p:spPr>
      </p:sp>
      <p:pic>
        <p:nvPicPr>
          <p:cNvPr id="5" name="Price verification icon"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822960" y="2395728"/>
            <a:ext cx="2019224" cy="365760"/>
          </a:xfrm>
          <a:prstGeom prst="rect">
            <a:avLst/>
          </a:prstGeom>
          <a:noFill/>
          <a:ln/>
        </p:spPr>
        <p:txBody>
          <a:bodyPr wrap="square" lIns="0" tIns="0" rIns="0" bIns="0" rtlCol="0" anchor="ctr"/>
          <a:lstStyle/>
          <a:p>
            <a:pPr indent="0" marL="0">
              <a:buNone/>
            </a:pPr>
            <a:r>
              <a:rPr lang="en-US" sz="1800" b="1" dirty="0">
                <a:solidFill>
                  <a:schemeClr val="tx2"/>
                </a:solidFill>
              </a:rPr>
              <a:t>Price verification</a:t>
            </a:r>
            <a:endParaRPr lang="en-US" sz="1800" dirty="0"/>
          </a:p>
        </p:txBody>
      </p:sp>
      <p:sp>
        <p:nvSpPr>
          <p:cNvPr id="7" name="Text 4"/>
          <p:cNvSpPr txBox="1"/>
          <p:nvPr/>
        </p:nvSpPr>
        <p:spPr>
          <a:xfrm>
            <a:off x="822960" y="2788920"/>
            <a:ext cx="2019224" cy="685800"/>
          </a:xfrm>
          <a:prstGeom prst="rect">
            <a:avLst/>
          </a:prstGeom>
          <a:noFill/>
          <a:ln/>
        </p:spPr>
        <p:txBody>
          <a:bodyPr wrap="square" lIns="0" tIns="0" rIns="0" bIns="0" rtlCol="0" anchor="t"/>
          <a:lstStyle/>
          <a:p>
            <a:pPr indent="0" marL="0">
              <a:buNone/>
            </a:pPr>
            <a:r>
              <a:rPr lang="en-US" sz="1500" dirty="0">
                <a:solidFill>
                  <a:schemeClr val="tx1"/>
                </a:solidFill>
              </a:rPr>
              <a:t>Many goods have no public market price</a:t>
            </a:r>
            <a:endParaRPr lang="en-US" sz="1500" dirty="0"/>
          </a:p>
        </p:txBody>
      </p:sp>
      <p:sp>
        <p:nvSpPr>
          <p:cNvPr id="8" name="Transfer pricing card"/>
          <p:cNvSpPr/>
          <p:nvPr/>
        </p:nvSpPr>
        <p:spPr>
          <a:xfrm>
            <a:off x="3390824" y="1371600"/>
            <a:ext cx="2567864" cy="2240280"/>
          </a:xfrm>
          <a:prstGeom prst="roundRect">
            <a:avLst>
              <a:gd name="adj" fmla="val 3265"/>
            </a:avLst>
          </a:prstGeom>
          <a:solidFill>
            <a:schemeClr val="bg2"/>
          </a:solidFill>
          <a:ln w="12700">
            <a:solidFill>
              <a:schemeClr val="bg2"/>
            </a:solidFill>
            <a:prstDash val="solid"/>
          </a:ln>
        </p:spPr>
      </p:sp>
      <p:sp>
        <p:nvSpPr>
          <p:cNvPr id="9" name="Transfer pricing circle"/>
          <p:cNvSpPr/>
          <p:nvPr/>
        </p:nvSpPr>
        <p:spPr>
          <a:xfrm>
            <a:off x="3665144" y="1645920"/>
            <a:ext cx="640080" cy="640080"/>
          </a:xfrm>
          <a:prstGeom prst="ellipse">
            <a:avLst/>
          </a:prstGeom>
          <a:solidFill>
            <a:srgbClr val="B83A2B"/>
          </a:solidFill>
          <a:ln w="12700">
            <a:solidFill>
              <a:srgbClr val="B83A2B"/>
            </a:solidFill>
            <a:prstDash val="solid"/>
          </a:ln>
        </p:spPr>
      </p:sp>
      <p:pic>
        <p:nvPicPr>
          <p:cNvPr id="10" name="Transfer pricing icon" descr="preencoded.png">    </p:cNvPr>
          <p:cNvPicPr>
            <a:picLocks noChangeAspect="1"/>
          </p:cNvPicPr>
          <p:nvPr/>
        </p:nvPicPr>
        <p:blipFill>
          <a:blip r:embed="rId2"/>
          <a:stretch>
            <a:fillRect/>
          </a:stretch>
        </p:blipFill>
        <p:spPr>
          <a:xfrm>
            <a:off x="3825164" y="1805940"/>
            <a:ext cx="320040" cy="320040"/>
          </a:xfrm>
          <a:prstGeom prst="rect">
            <a:avLst/>
          </a:prstGeom>
        </p:spPr>
      </p:pic>
      <p:sp>
        <p:nvSpPr>
          <p:cNvPr id="11" name="Text 7"/>
          <p:cNvSpPr txBox="1"/>
          <p:nvPr/>
        </p:nvSpPr>
        <p:spPr>
          <a:xfrm>
            <a:off x="3665144" y="2395728"/>
            <a:ext cx="2019224" cy="365760"/>
          </a:xfrm>
          <a:prstGeom prst="rect">
            <a:avLst/>
          </a:prstGeom>
          <a:noFill/>
          <a:ln/>
        </p:spPr>
        <p:txBody>
          <a:bodyPr wrap="square" lIns="0" tIns="0" rIns="0" bIns="0" rtlCol="0" anchor="ctr"/>
          <a:lstStyle/>
          <a:p>
            <a:pPr indent="0" marL="0">
              <a:buNone/>
            </a:pPr>
            <a:r>
              <a:rPr lang="en-US" sz="1800" b="1" dirty="0">
                <a:solidFill>
                  <a:schemeClr val="tx2"/>
                </a:solidFill>
              </a:rPr>
              <a:t>Transfer pricing</a:t>
            </a:r>
            <a:endParaRPr lang="en-US" sz="1800" dirty="0"/>
          </a:p>
        </p:txBody>
      </p:sp>
      <p:sp>
        <p:nvSpPr>
          <p:cNvPr id="12" name="Text 8"/>
          <p:cNvSpPr txBox="1"/>
          <p:nvPr/>
        </p:nvSpPr>
        <p:spPr>
          <a:xfrm>
            <a:off x="3665144" y="2788920"/>
            <a:ext cx="2019224" cy="685800"/>
          </a:xfrm>
          <a:prstGeom prst="rect">
            <a:avLst/>
          </a:prstGeom>
          <a:noFill/>
          <a:ln/>
        </p:spPr>
        <p:txBody>
          <a:bodyPr wrap="square" lIns="0" tIns="0" rIns="0" bIns="0" rtlCol="0" anchor="t"/>
          <a:lstStyle/>
          <a:p>
            <a:pPr indent="0" marL="0">
              <a:buNone/>
            </a:pPr>
            <a:r>
              <a:rPr lang="en-US" sz="1500" dirty="0">
                <a:solidFill>
                  <a:schemeClr val="tx1"/>
                </a:solidFill>
              </a:rPr>
              <a:t>Related parties shift value to low-tax places</a:t>
            </a:r>
            <a:endParaRPr lang="en-US" sz="1500" dirty="0"/>
          </a:p>
        </p:txBody>
      </p:sp>
      <p:sp>
        <p:nvSpPr>
          <p:cNvPr id="13" name="Skilled people card"/>
          <p:cNvSpPr/>
          <p:nvPr/>
        </p:nvSpPr>
        <p:spPr>
          <a:xfrm>
            <a:off x="6233008" y="1371600"/>
            <a:ext cx="2567864" cy="2240280"/>
          </a:xfrm>
          <a:prstGeom prst="roundRect">
            <a:avLst>
              <a:gd name="adj" fmla="val 3265"/>
            </a:avLst>
          </a:prstGeom>
          <a:solidFill>
            <a:schemeClr val="bg2"/>
          </a:solidFill>
          <a:ln w="12700">
            <a:solidFill>
              <a:schemeClr val="bg2"/>
            </a:solidFill>
            <a:prstDash val="solid"/>
          </a:ln>
        </p:spPr>
      </p:sp>
      <p:sp>
        <p:nvSpPr>
          <p:cNvPr id="14" name="Skilled people circle"/>
          <p:cNvSpPr/>
          <p:nvPr/>
        </p:nvSpPr>
        <p:spPr>
          <a:xfrm>
            <a:off x="6507328" y="1645920"/>
            <a:ext cx="640080" cy="640080"/>
          </a:xfrm>
          <a:prstGeom prst="ellipse">
            <a:avLst/>
          </a:prstGeom>
          <a:solidFill>
            <a:srgbClr val="912125"/>
          </a:solidFill>
          <a:ln w="12700">
            <a:solidFill>
              <a:srgbClr val="912125"/>
            </a:solidFill>
            <a:prstDash val="solid"/>
          </a:ln>
        </p:spPr>
      </p:sp>
      <p:pic>
        <p:nvPicPr>
          <p:cNvPr id="15" name="Skilled people icon" descr="preencoded.png">    </p:cNvPr>
          <p:cNvPicPr>
            <a:picLocks noChangeAspect="1"/>
          </p:cNvPicPr>
          <p:nvPr/>
        </p:nvPicPr>
        <p:blipFill>
          <a:blip r:embed="rId3"/>
          <a:stretch>
            <a:fillRect/>
          </a:stretch>
        </p:blipFill>
        <p:spPr>
          <a:xfrm>
            <a:off x="6667348" y="1805940"/>
            <a:ext cx="320040" cy="320040"/>
          </a:xfrm>
          <a:prstGeom prst="rect">
            <a:avLst/>
          </a:prstGeom>
        </p:spPr>
      </p:pic>
      <p:sp>
        <p:nvSpPr>
          <p:cNvPr id="16" name="Text 11"/>
          <p:cNvSpPr txBox="1"/>
          <p:nvPr/>
        </p:nvSpPr>
        <p:spPr>
          <a:xfrm>
            <a:off x="6507328" y="2395728"/>
            <a:ext cx="2019224" cy="365760"/>
          </a:xfrm>
          <a:prstGeom prst="rect">
            <a:avLst/>
          </a:prstGeom>
          <a:noFill/>
          <a:ln/>
        </p:spPr>
        <p:txBody>
          <a:bodyPr wrap="square" lIns="0" tIns="0" rIns="0" bIns="0" rtlCol="0" anchor="ctr"/>
          <a:lstStyle/>
          <a:p>
            <a:pPr indent="0" marL="0">
              <a:buNone/>
            </a:pPr>
            <a:r>
              <a:rPr lang="en-US" sz="1800" b="1" dirty="0">
                <a:solidFill>
                  <a:schemeClr val="tx2"/>
                </a:solidFill>
              </a:rPr>
              <a:t>Skilled people</a:t>
            </a:r>
            <a:endParaRPr lang="en-US" sz="1800" dirty="0"/>
          </a:p>
        </p:txBody>
      </p:sp>
      <p:sp>
        <p:nvSpPr>
          <p:cNvPr id="17" name="Text 12"/>
          <p:cNvSpPr txBox="1"/>
          <p:nvPr/>
        </p:nvSpPr>
        <p:spPr>
          <a:xfrm>
            <a:off x="6507328" y="2788920"/>
            <a:ext cx="2019224" cy="685800"/>
          </a:xfrm>
          <a:prstGeom prst="rect">
            <a:avLst/>
          </a:prstGeom>
          <a:noFill/>
          <a:ln/>
        </p:spPr>
        <p:txBody>
          <a:bodyPr wrap="square" lIns="0" tIns="0" rIns="0" bIns="0" rtlCol="0" anchor="t"/>
          <a:lstStyle/>
          <a:p>
            <a:pPr indent="0" marL="0">
              <a:buNone/>
            </a:pPr>
            <a:r>
              <a:rPr lang="en-US" sz="1500" dirty="0">
                <a:solidFill>
                  <a:schemeClr val="tx1"/>
                </a:solidFill>
              </a:rPr>
              <a:t>Few staff truly know forex trade operations</a:t>
            </a:r>
            <a:endParaRPr lang="en-US" sz="1500" dirty="0"/>
          </a:p>
        </p:txBody>
      </p:sp>
      <p:sp>
        <p:nvSpPr>
          <p:cNvPr id="18" name="Sales pressure card"/>
          <p:cNvSpPr/>
          <p:nvPr/>
        </p:nvSpPr>
        <p:spPr>
          <a:xfrm>
            <a:off x="9075191" y="1371600"/>
            <a:ext cx="2567864" cy="2240280"/>
          </a:xfrm>
          <a:prstGeom prst="roundRect">
            <a:avLst>
              <a:gd name="adj" fmla="val 3265"/>
            </a:avLst>
          </a:prstGeom>
          <a:solidFill>
            <a:schemeClr val="bg2"/>
          </a:solidFill>
          <a:ln w="12700">
            <a:solidFill>
              <a:schemeClr val="bg2"/>
            </a:solidFill>
            <a:prstDash val="solid"/>
          </a:ln>
        </p:spPr>
      </p:sp>
      <p:sp>
        <p:nvSpPr>
          <p:cNvPr id="19" name="Sales pressure circle"/>
          <p:cNvSpPr/>
          <p:nvPr/>
        </p:nvSpPr>
        <p:spPr>
          <a:xfrm>
            <a:off x="9349511" y="1645920"/>
            <a:ext cx="640080" cy="640080"/>
          </a:xfrm>
          <a:prstGeom prst="ellipse">
            <a:avLst/>
          </a:prstGeom>
          <a:solidFill>
            <a:srgbClr val="912125"/>
          </a:solidFill>
          <a:ln w="12700">
            <a:solidFill>
              <a:srgbClr val="912125"/>
            </a:solidFill>
            <a:prstDash val="solid"/>
          </a:ln>
        </p:spPr>
      </p:sp>
      <p:pic>
        <p:nvPicPr>
          <p:cNvPr id="20" name="Sales pressure icon" descr="preencoded.png">    </p:cNvPr>
          <p:cNvPicPr>
            <a:picLocks noChangeAspect="1"/>
          </p:cNvPicPr>
          <p:nvPr/>
        </p:nvPicPr>
        <p:blipFill>
          <a:blip r:embed="rId4"/>
          <a:stretch>
            <a:fillRect/>
          </a:stretch>
        </p:blipFill>
        <p:spPr>
          <a:xfrm>
            <a:off x="9509531" y="1805940"/>
            <a:ext cx="320040" cy="320040"/>
          </a:xfrm>
          <a:prstGeom prst="rect">
            <a:avLst/>
          </a:prstGeom>
        </p:spPr>
      </p:pic>
      <p:sp>
        <p:nvSpPr>
          <p:cNvPr id="21" name="Text 15"/>
          <p:cNvSpPr txBox="1"/>
          <p:nvPr/>
        </p:nvSpPr>
        <p:spPr>
          <a:xfrm>
            <a:off x="9349511" y="2395728"/>
            <a:ext cx="2019224" cy="365760"/>
          </a:xfrm>
          <a:prstGeom prst="rect">
            <a:avLst/>
          </a:prstGeom>
          <a:noFill/>
          <a:ln/>
        </p:spPr>
        <p:txBody>
          <a:bodyPr wrap="square" lIns="0" tIns="0" rIns="0" bIns="0" rtlCol="0" anchor="ctr"/>
          <a:lstStyle/>
          <a:p>
            <a:pPr indent="0" marL="0">
              <a:buNone/>
            </a:pPr>
            <a:r>
              <a:rPr lang="en-US" sz="1800" b="1" dirty="0">
                <a:solidFill>
                  <a:schemeClr val="tx2"/>
                </a:solidFill>
              </a:rPr>
              <a:t>Sales pressure</a:t>
            </a:r>
            <a:endParaRPr lang="en-US" sz="1800" dirty="0"/>
          </a:p>
        </p:txBody>
      </p:sp>
      <p:sp>
        <p:nvSpPr>
          <p:cNvPr id="22" name="Text 16"/>
          <p:cNvSpPr txBox="1"/>
          <p:nvPr/>
        </p:nvSpPr>
        <p:spPr>
          <a:xfrm>
            <a:off x="9349511" y="2788920"/>
            <a:ext cx="2019224" cy="685800"/>
          </a:xfrm>
          <a:prstGeom prst="rect">
            <a:avLst/>
          </a:prstGeom>
          <a:noFill/>
          <a:ln/>
        </p:spPr>
        <p:txBody>
          <a:bodyPr wrap="square" lIns="0" tIns="0" rIns="0" bIns="0" rtlCol="0" anchor="t"/>
          <a:lstStyle/>
          <a:p>
            <a:pPr indent="0" marL="0">
              <a:buNone/>
            </a:pPr>
            <a:r>
              <a:rPr lang="en-US" sz="1500" dirty="0">
                <a:solidFill>
                  <a:schemeClr val="tx1"/>
                </a:solidFill>
              </a:rPr>
              <a:t>Targets tempt staff to skip due diligence</a:t>
            </a:r>
            <a:endParaRPr lang="en-US" sz="1500" dirty="0"/>
          </a:p>
        </p:txBody>
      </p:sp>
      <p:sp>
        <p:nvSpPr>
          <p:cNvPr id="23" name="Coordination card"/>
          <p:cNvSpPr/>
          <p:nvPr/>
        </p:nvSpPr>
        <p:spPr>
          <a:xfrm>
            <a:off x="1969732" y="3886200"/>
            <a:ext cx="2567864" cy="2240280"/>
          </a:xfrm>
          <a:prstGeom prst="roundRect">
            <a:avLst>
              <a:gd name="adj" fmla="val 3265"/>
            </a:avLst>
          </a:prstGeom>
          <a:solidFill>
            <a:schemeClr val="bg2"/>
          </a:solidFill>
          <a:ln w="12700">
            <a:solidFill>
              <a:schemeClr val="bg2"/>
            </a:solidFill>
            <a:prstDash val="solid"/>
          </a:ln>
        </p:spPr>
      </p:sp>
      <p:sp>
        <p:nvSpPr>
          <p:cNvPr id="24" name="Coordination circle"/>
          <p:cNvSpPr/>
          <p:nvPr/>
        </p:nvSpPr>
        <p:spPr>
          <a:xfrm>
            <a:off x="2244052" y="4160520"/>
            <a:ext cx="640080" cy="640080"/>
          </a:xfrm>
          <a:prstGeom prst="ellipse">
            <a:avLst/>
          </a:prstGeom>
          <a:solidFill>
            <a:srgbClr val="912125"/>
          </a:solidFill>
          <a:ln w="12700">
            <a:solidFill>
              <a:srgbClr val="912125"/>
            </a:solidFill>
            <a:prstDash val="solid"/>
          </a:ln>
        </p:spPr>
      </p:sp>
      <p:pic>
        <p:nvPicPr>
          <p:cNvPr id="25" name="Coordination icon" descr="preencoded.png">    </p:cNvPr>
          <p:cNvPicPr>
            <a:picLocks noChangeAspect="1"/>
          </p:cNvPicPr>
          <p:nvPr/>
        </p:nvPicPr>
        <p:blipFill>
          <a:blip r:embed="rId5"/>
          <a:stretch>
            <a:fillRect/>
          </a:stretch>
        </p:blipFill>
        <p:spPr>
          <a:xfrm>
            <a:off x="2404072" y="4320540"/>
            <a:ext cx="320040" cy="320040"/>
          </a:xfrm>
          <a:prstGeom prst="rect">
            <a:avLst/>
          </a:prstGeom>
        </p:spPr>
      </p:pic>
      <p:sp>
        <p:nvSpPr>
          <p:cNvPr id="26" name="Text 19"/>
          <p:cNvSpPr txBox="1"/>
          <p:nvPr/>
        </p:nvSpPr>
        <p:spPr>
          <a:xfrm>
            <a:off x="2244052" y="4910328"/>
            <a:ext cx="2019224" cy="365760"/>
          </a:xfrm>
          <a:prstGeom prst="rect">
            <a:avLst/>
          </a:prstGeom>
          <a:noFill/>
          <a:ln/>
        </p:spPr>
        <p:txBody>
          <a:bodyPr wrap="square" lIns="0" tIns="0" rIns="0" bIns="0" rtlCol="0" anchor="ctr"/>
          <a:lstStyle/>
          <a:p>
            <a:pPr indent="0" marL="0">
              <a:buNone/>
            </a:pPr>
            <a:r>
              <a:rPr lang="en-US" sz="1800" b="1" dirty="0">
                <a:solidFill>
                  <a:schemeClr val="tx2"/>
                </a:solidFill>
              </a:rPr>
              <a:t>Coordination</a:t>
            </a:r>
            <a:endParaRPr lang="en-US" sz="1800" dirty="0"/>
          </a:p>
        </p:txBody>
      </p:sp>
      <p:sp>
        <p:nvSpPr>
          <p:cNvPr id="27" name="Text 20"/>
          <p:cNvSpPr txBox="1"/>
          <p:nvPr/>
        </p:nvSpPr>
        <p:spPr>
          <a:xfrm>
            <a:off x="2244052" y="5303520"/>
            <a:ext cx="2019224" cy="685800"/>
          </a:xfrm>
          <a:prstGeom prst="rect">
            <a:avLst/>
          </a:prstGeom>
          <a:noFill/>
          <a:ln/>
        </p:spPr>
        <p:txBody>
          <a:bodyPr wrap="square" lIns="0" tIns="0" rIns="0" bIns="0" rtlCol="0" anchor="t"/>
          <a:lstStyle/>
          <a:p>
            <a:pPr indent="0" marL="0">
              <a:buNone/>
            </a:pPr>
            <a:r>
              <a:rPr lang="en-US" sz="1500" dirty="0">
                <a:solidFill>
                  <a:schemeClr val="tx1"/>
                </a:solidFill>
              </a:rPr>
              <a:t>Banks, Customs and NBR work in silos</a:t>
            </a:r>
            <a:endParaRPr lang="en-US" sz="1500" dirty="0"/>
          </a:p>
        </p:txBody>
      </p:sp>
      <p:sp>
        <p:nvSpPr>
          <p:cNvPr id="28" name="MIS and data card"/>
          <p:cNvSpPr/>
          <p:nvPr/>
        </p:nvSpPr>
        <p:spPr>
          <a:xfrm>
            <a:off x="4811916" y="3886200"/>
            <a:ext cx="2567864" cy="2240280"/>
          </a:xfrm>
          <a:prstGeom prst="roundRect">
            <a:avLst>
              <a:gd name="adj" fmla="val 3265"/>
            </a:avLst>
          </a:prstGeom>
          <a:solidFill>
            <a:schemeClr val="bg2"/>
          </a:solidFill>
          <a:ln w="12700">
            <a:solidFill>
              <a:schemeClr val="bg2"/>
            </a:solidFill>
            <a:prstDash val="solid"/>
          </a:ln>
        </p:spPr>
      </p:sp>
      <p:sp>
        <p:nvSpPr>
          <p:cNvPr id="29" name="MIS and data circle"/>
          <p:cNvSpPr/>
          <p:nvPr/>
        </p:nvSpPr>
        <p:spPr>
          <a:xfrm>
            <a:off x="5086236" y="4160520"/>
            <a:ext cx="640080" cy="640080"/>
          </a:xfrm>
          <a:prstGeom prst="ellipse">
            <a:avLst/>
          </a:prstGeom>
          <a:solidFill>
            <a:srgbClr val="912125"/>
          </a:solidFill>
          <a:ln w="12700">
            <a:solidFill>
              <a:srgbClr val="912125"/>
            </a:solidFill>
            <a:prstDash val="solid"/>
          </a:ln>
        </p:spPr>
      </p:sp>
      <p:pic>
        <p:nvPicPr>
          <p:cNvPr id="30" name="MIS and data icon" descr="preencoded.png">    </p:cNvPr>
          <p:cNvPicPr>
            <a:picLocks noChangeAspect="1"/>
          </p:cNvPicPr>
          <p:nvPr/>
        </p:nvPicPr>
        <p:blipFill>
          <a:blip r:embed="rId6"/>
          <a:stretch>
            <a:fillRect/>
          </a:stretch>
        </p:blipFill>
        <p:spPr>
          <a:xfrm>
            <a:off x="5246256" y="4320540"/>
            <a:ext cx="320040" cy="320040"/>
          </a:xfrm>
          <a:prstGeom prst="rect">
            <a:avLst/>
          </a:prstGeom>
        </p:spPr>
      </p:pic>
      <p:sp>
        <p:nvSpPr>
          <p:cNvPr id="31" name="Text 23"/>
          <p:cNvSpPr txBox="1"/>
          <p:nvPr/>
        </p:nvSpPr>
        <p:spPr>
          <a:xfrm>
            <a:off x="5086236" y="4910328"/>
            <a:ext cx="2019224" cy="365760"/>
          </a:xfrm>
          <a:prstGeom prst="rect">
            <a:avLst/>
          </a:prstGeom>
          <a:noFill/>
          <a:ln/>
        </p:spPr>
        <p:txBody>
          <a:bodyPr wrap="square" lIns="0" tIns="0" rIns="0" bIns="0" rtlCol="0" anchor="ctr"/>
          <a:lstStyle/>
          <a:p>
            <a:pPr indent="0" marL="0">
              <a:buNone/>
            </a:pPr>
            <a:r>
              <a:rPr lang="en-US" sz="1800" b="1" dirty="0">
                <a:solidFill>
                  <a:schemeClr val="tx2"/>
                </a:solidFill>
              </a:rPr>
              <a:t>MIS and data</a:t>
            </a:r>
            <a:endParaRPr lang="en-US" sz="1800" dirty="0"/>
          </a:p>
        </p:txBody>
      </p:sp>
      <p:sp>
        <p:nvSpPr>
          <p:cNvPr id="32" name="Text 24"/>
          <p:cNvSpPr txBox="1"/>
          <p:nvPr/>
        </p:nvSpPr>
        <p:spPr>
          <a:xfrm>
            <a:off x="5086236" y="5303520"/>
            <a:ext cx="2019224" cy="685800"/>
          </a:xfrm>
          <a:prstGeom prst="rect">
            <a:avLst/>
          </a:prstGeom>
          <a:noFill/>
          <a:ln/>
        </p:spPr>
        <p:txBody>
          <a:bodyPr wrap="square" lIns="0" tIns="0" rIns="0" bIns="0" rtlCol="0" anchor="t"/>
          <a:lstStyle/>
          <a:p>
            <a:pPr indent="0" marL="0">
              <a:buNone/>
            </a:pPr>
            <a:r>
              <a:rPr lang="en-US" sz="1500" dirty="0">
                <a:solidFill>
                  <a:schemeClr val="tx1"/>
                </a:solidFill>
              </a:rPr>
              <a:t>No central database or uniform price list</a:t>
            </a:r>
            <a:endParaRPr lang="en-US" sz="1500" dirty="0"/>
          </a:p>
        </p:txBody>
      </p:sp>
      <p:sp>
        <p:nvSpPr>
          <p:cNvPr id="33" name="Duty structure card"/>
          <p:cNvSpPr/>
          <p:nvPr/>
        </p:nvSpPr>
        <p:spPr>
          <a:xfrm>
            <a:off x="7654100" y="3886200"/>
            <a:ext cx="2567864" cy="2240280"/>
          </a:xfrm>
          <a:prstGeom prst="roundRect">
            <a:avLst>
              <a:gd name="adj" fmla="val 3265"/>
            </a:avLst>
          </a:prstGeom>
          <a:solidFill>
            <a:schemeClr val="bg2"/>
          </a:solidFill>
          <a:ln w="12700">
            <a:solidFill>
              <a:schemeClr val="bg2"/>
            </a:solidFill>
            <a:prstDash val="solid"/>
          </a:ln>
        </p:spPr>
      </p:sp>
      <p:sp>
        <p:nvSpPr>
          <p:cNvPr id="34" name="Duty structure circle"/>
          <p:cNvSpPr/>
          <p:nvPr/>
        </p:nvSpPr>
        <p:spPr>
          <a:xfrm>
            <a:off x="7928420" y="4160520"/>
            <a:ext cx="640080" cy="640080"/>
          </a:xfrm>
          <a:prstGeom prst="ellipse">
            <a:avLst/>
          </a:prstGeom>
          <a:solidFill>
            <a:srgbClr val="912125"/>
          </a:solidFill>
          <a:ln w="12700">
            <a:solidFill>
              <a:srgbClr val="912125"/>
            </a:solidFill>
            <a:prstDash val="solid"/>
          </a:ln>
        </p:spPr>
      </p:sp>
      <p:pic>
        <p:nvPicPr>
          <p:cNvPr id="35" name="Duty structure icon" descr="preencoded.png">    </p:cNvPr>
          <p:cNvPicPr>
            <a:picLocks noChangeAspect="1"/>
          </p:cNvPicPr>
          <p:nvPr/>
        </p:nvPicPr>
        <p:blipFill>
          <a:blip r:embed="rId7"/>
          <a:stretch>
            <a:fillRect/>
          </a:stretch>
        </p:blipFill>
        <p:spPr>
          <a:xfrm>
            <a:off x="8088440" y="4320540"/>
            <a:ext cx="320040" cy="320040"/>
          </a:xfrm>
          <a:prstGeom prst="rect">
            <a:avLst/>
          </a:prstGeom>
        </p:spPr>
      </p:pic>
      <p:sp>
        <p:nvSpPr>
          <p:cNvPr id="36" name="Text 27"/>
          <p:cNvSpPr txBox="1"/>
          <p:nvPr/>
        </p:nvSpPr>
        <p:spPr>
          <a:xfrm>
            <a:off x="7928420" y="4910328"/>
            <a:ext cx="2019224" cy="365760"/>
          </a:xfrm>
          <a:prstGeom prst="rect">
            <a:avLst/>
          </a:prstGeom>
          <a:noFill/>
          <a:ln/>
        </p:spPr>
        <p:txBody>
          <a:bodyPr wrap="square" lIns="0" tIns="0" rIns="0" bIns="0" rtlCol="0" anchor="ctr"/>
          <a:lstStyle/>
          <a:p>
            <a:pPr indent="0" marL="0">
              <a:buNone/>
            </a:pPr>
            <a:r>
              <a:rPr lang="en-US" sz="1800" b="1" dirty="0">
                <a:solidFill>
                  <a:schemeClr val="tx2"/>
                </a:solidFill>
              </a:rPr>
              <a:t>Duty structure</a:t>
            </a:r>
            <a:endParaRPr lang="en-US" sz="1800" dirty="0"/>
          </a:p>
        </p:txBody>
      </p:sp>
      <p:sp>
        <p:nvSpPr>
          <p:cNvPr id="37" name="Text 28"/>
          <p:cNvSpPr txBox="1"/>
          <p:nvPr/>
        </p:nvSpPr>
        <p:spPr>
          <a:xfrm>
            <a:off x="7928420" y="5303520"/>
            <a:ext cx="2019224" cy="685800"/>
          </a:xfrm>
          <a:prstGeom prst="rect">
            <a:avLst/>
          </a:prstGeom>
          <a:noFill/>
          <a:ln/>
        </p:spPr>
        <p:txBody>
          <a:bodyPr wrap="square" lIns="0" tIns="0" rIns="0" bIns="0" rtlCol="0" anchor="t"/>
          <a:lstStyle/>
          <a:p>
            <a:pPr indent="0" marL="0">
              <a:buNone/>
            </a:pPr>
            <a:r>
              <a:rPr lang="en-US" sz="1500" dirty="0">
                <a:solidFill>
                  <a:schemeClr val="tx1"/>
                </a:solidFill>
              </a:rPr>
              <a:t>Quoted prices follow duty rates, not markets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rules we must comply with</a:t>
            </a:r>
            <a:endParaRPr lang="en-US" sz="3200" dirty="0"/>
          </a:p>
        </p:txBody>
      </p:sp>
      <p:sp>
        <p:nvSpPr>
          <p:cNvPr id="3" name="Local law circle"/>
          <p:cNvSpPr/>
          <p:nvPr/>
        </p:nvSpPr>
        <p:spPr>
          <a:xfrm>
            <a:off x="548640" y="1371600"/>
            <a:ext cx="685800" cy="685800"/>
          </a:xfrm>
          <a:prstGeom prst="ellipse">
            <a:avLst/>
          </a:prstGeom>
          <a:solidFill>
            <a:srgbClr val="912125"/>
          </a:solidFill>
          <a:ln w="12700">
            <a:solidFill>
              <a:srgbClr val="912125"/>
            </a:solidFill>
            <a:prstDash val="solid"/>
          </a:ln>
        </p:spPr>
      </p:sp>
      <p:pic>
        <p:nvPicPr>
          <p:cNvPr id="4" name="Local law icon" descr="preencoded.png">    </p:cNvPr>
          <p:cNvPicPr>
            <a:picLocks noChangeAspect="1"/>
          </p:cNvPicPr>
          <p:nvPr/>
        </p:nvPicPr>
        <p:blipFill>
          <a:blip r:embed="rId1"/>
          <a:stretch>
            <a:fillRect/>
          </a:stretch>
        </p:blipFill>
        <p:spPr>
          <a:xfrm>
            <a:off x="720090" y="1543050"/>
            <a:ext cx="342900" cy="342900"/>
          </a:xfrm>
          <a:prstGeom prst="rect">
            <a:avLst/>
          </a:prstGeom>
        </p:spPr>
      </p:pic>
      <p:sp>
        <p:nvSpPr>
          <p:cNvPr id="5" name="Text 2"/>
          <p:cNvSpPr txBox="1"/>
          <p:nvPr/>
        </p:nvSpPr>
        <p:spPr>
          <a:xfrm>
            <a:off x="1417320" y="1371600"/>
            <a:ext cx="4434840" cy="6858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Bangladesh law and regulation</a:t>
            </a:r>
            <a:endParaRPr lang="en-US" sz="2000" dirty="0"/>
          </a:p>
        </p:txBody>
      </p:sp>
      <p:sp>
        <p:nvSpPr>
          <p:cNvPr id="6" name="Text 3"/>
          <p:cNvSpPr txBox="1"/>
          <p:nvPr/>
        </p:nvSpPr>
        <p:spPr>
          <a:xfrm>
            <a:off x="548640" y="2240280"/>
            <a:ext cx="5349240" cy="3108960"/>
          </a:xfrm>
          <a:prstGeom prst="rect">
            <a:avLst/>
          </a:prstGeom>
          <a:noFill/>
          <a:ln/>
        </p:spPr>
        <p:txBody>
          <a:bodyPr wrap="square" lIns="0" tIns="0" rIns="0" bIns="0" rtlCol="0" anchor="t"/>
          <a:lstStyle/>
          <a:p>
            <a:pPr marL="177800" indent="-177800">
              <a:spcAft>
                <a:spcPts val="800"/>
              </a:spcAft>
              <a:buSzPct val="100000"/>
              <a:buChar char="•"/>
            </a:pPr>
            <a:r>
              <a:rPr lang="en-US" sz="1800" dirty="0">
                <a:solidFill>
                  <a:schemeClr val="tx1"/>
                </a:solidFill>
              </a:rPr>
              <a:t>Money Laundering Prevention Act 2012 and Rules 2019</a:t>
            </a:r>
            <a:endParaRPr lang="en-US" sz="1800" dirty="0"/>
          </a:p>
          <a:p>
            <a:pPr marL="177800" indent="-177800">
              <a:spcAft>
                <a:spcPts val="800"/>
              </a:spcAft>
              <a:buSzPct val="100000"/>
              <a:buChar char="•"/>
            </a:pPr>
            <a:r>
              <a:rPr lang="en-US" sz="1800" dirty="0">
                <a:solidFill>
                  <a:schemeClr val="tx1"/>
                </a:solidFill>
              </a:rPr>
              <a:t>Anti-Terrorism Act 2009 and Rules 2013</a:t>
            </a:r>
            <a:endParaRPr lang="en-US" sz="1800" dirty="0"/>
          </a:p>
          <a:p>
            <a:pPr marL="177800" indent="-177800">
              <a:spcAft>
                <a:spcPts val="800"/>
              </a:spcAft>
              <a:buSzPct val="100000"/>
              <a:buChar char="•"/>
            </a:pPr>
            <a:r>
              <a:rPr lang="en-US" sz="1800" dirty="0">
                <a:solidFill>
                  <a:schemeClr val="tx1"/>
                </a:solidFill>
              </a:rPr>
              <a:t>Foreign Exchange Regulation Act 1947</a:t>
            </a:r>
            <a:endParaRPr lang="en-US" sz="1800" dirty="0"/>
          </a:p>
          <a:p>
            <a:pPr marL="177800" indent="-177800">
              <a:spcAft>
                <a:spcPts val="800"/>
              </a:spcAft>
              <a:buSzPct val="100000"/>
              <a:buChar char="•"/>
            </a:pPr>
            <a:r>
              <a:rPr lang="en-US" sz="1800" dirty="0">
                <a:solidFill>
                  <a:schemeClr val="tx1"/>
                </a:solidFill>
              </a:rPr>
              <a:t>Customs Act 2023</a:t>
            </a:r>
            <a:endParaRPr lang="en-US" sz="1800" dirty="0"/>
          </a:p>
          <a:p>
            <a:pPr marL="177800" indent="-177800">
              <a:spcAft>
                <a:spcPts val="800"/>
              </a:spcAft>
              <a:buSzPct val="100000"/>
              <a:buChar char="•"/>
            </a:pPr>
            <a:r>
              <a:rPr lang="en-US" sz="1800" dirty="0">
                <a:solidFill>
                  <a:schemeClr val="tx1"/>
                </a:solidFill>
              </a:rPr>
              <a:t>Import and Export Control Act 1950</a:t>
            </a:r>
            <a:endParaRPr lang="en-US" sz="1800" dirty="0"/>
          </a:p>
          <a:p>
            <a:pPr marL="177800" indent="-177800">
              <a:spcAft>
                <a:spcPts val="800"/>
              </a:spcAft>
              <a:buSzPct val="100000"/>
              <a:buChar char="•"/>
            </a:pPr>
            <a:r>
              <a:rPr lang="en-US" sz="1800" dirty="0">
                <a:solidFill>
                  <a:schemeClr val="tx1"/>
                </a:solidFill>
              </a:rPr>
              <a:t>Import Policy Order 2026-2029 and Export Policy</a:t>
            </a:r>
            <a:endParaRPr lang="en-US" sz="1800" dirty="0"/>
          </a:p>
          <a:p>
            <a:pPr marL="177800" indent="-177800">
              <a:spcAft>
                <a:spcPts val="800"/>
              </a:spcAft>
              <a:buSzPct val="100000"/>
              <a:buChar char="•"/>
            </a:pPr>
            <a:r>
              <a:rPr lang="en-US" sz="1800" dirty="0">
                <a:solidFill>
                  <a:schemeClr val="tx1"/>
                </a:solidFill>
              </a:rPr>
              <a:t>BFIU circulars and GFET 2018</a:t>
            </a:r>
            <a:endParaRPr lang="en-US" sz="1800" dirty="0"/>
          </a:p>
        </p:txBody>
      </p:sp>
      <p:sp>
        <p:nvSpPr>
          <p:cNvPr id="7" name="International circle"/>
          <p:cNvSpPr/>
          <p:nvPr/>
        </p:nvSpPr>
        <p:spPr>
          <a:xfrm>
            <a:off x="6291072" y="1371600"/>
            <a:ext cx="685800" cy="685800"/>
          </a:xfrm>
          <a:prstGeom prst="ellipse">
            <a:avLst/>
          </a:prstGeom>
          <a:solidFill>
            <a:srgbClr val="6B1820"/>
          </a:solidFill>
          <a:ln w="12700">
            <a:solidFill>
              <a:srgbClr val="6B1820"/>
            </a:solidFill>
            <a:prstDash val="solid"/>
          </a:ln>
        </p:spPr>
      </p:sp>
      <p:pic>
        <p:nvPicPr>
          <p:cNvPr id="8" name="International icon" descr="preencoded.png">    </p:cNvPr>
          <p:cNvPicPr>
            <a:picLocks noChangeAspect="1"/>
          </p:cNvPicPr>
          <p:nvPr/>
        </p:nvPicPr>
        <p:blipFill>
          <a:blip r:embed="rId2"/>
          <a:stretch>
            <a:fillRect/>
          </a:stretch>
        </p:blipFill>
        <p:spPr>
          <a:xfrm>
            <a:off x="6462522" y="1543050"/>
            <a:ext cx="342900" cy="342900"/>
          </a:xfrm>
          <a:prstGeom prst="rect">
            <a:avLst/>
          </a:prstGeom>
        </p:spPr>
      </p:pic>
      <p:sp>
        <p:nvSpPr>
          <p:cNvPr id="9" name="Text 5"/>
          <p:cNvSpPr txBox="1"/>
          <p:nvPr/>
        </p:nvSpPr>
        <p:spPr>
          <a:xfrm>
            <a:off x="7159752" y="1371600"/>
            <a:ext cx="4434840" cy="6858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International rules and practice</a:t>
            </a:r>
            <a:endParaRPr lang="en-US" sz="2000" dirty="0"/>
          </a:p>
        </p:txBody>
      </p:sp>
      <p:sp>
        <p:nvSpPr>
          <p:cNvPr id="10" name="Text 6"/>
          <p:cNvSpPr txBox="1"/>
          <p:nvPr/>
        </p:nvSpPr>
        <p:spPr>
          <a:xfrm>
            <a:off x="6291072" y="2240280"/>
            <a:ext cx="5349240" cy="3108960"/>
          </a:xfrm>
          <a:prstGeom prst="rect">
            <a:avLst/>
          </a:prstGeom>
          <a:noFill/>
          <a:ln/>
        </p:spPr>
        <p:txBody>
          <a:bodyPr wrap="square" lIns="0" tIns="0" rIns="0" bIns="0" rtlCol="0" anchor="t"/>
          <a:lstStyle/>
          <a:p>
            <a:pPr marL="177800" indent="-177800">
              <a:spcAft>
                <a:spcPts val="800"/>
              </a:spcAft>
              <a:buSzPct val="100000"/>
              <a:buChar char="•"/>
            </a:pPr>
            <a:r>
              <a:rPr lang="en-US" sz="1800" dirty="0">
                <a:solidFill>
                  <a:schemeClr val="tx1"/>
                </a:solidFill>
              </a:rPr>
              <a:t>UCP 600 for documentary credits</a:t>
            </a:r>
            <a:endParaRPr lang="en-US" sz="1800" dirty="0"/>
          </a:p>
          <a:p>
            <a:pPr marL="177800" indent="-177800">
              <a:spcAft>
                <a:spcPts val="800"/>
              </a:spcAft>
              <a:buSzPct val="100000"/>
              <a:buChar char="•"/>
            </a:pPr>
            <a:r>
              <a:rPr lang="en-US" sz="1800" dirty="0">
                <a:solidFill>
                  <a:schemeClr val="tx1"/>
                </a:solidFill>
              </a:rPr>
              <a:t>URC 522 for collections</a:t>
            </a:r>
            <a:endParaRPr lang="en-US" sz="1800" dirty="0"/>
          </a:p>
          <a:p>
            <a:pPr marL="177800" indent="-177800">
              <a:spcAft>
                <a:spcPts val="800"/>
              </a:spcAft>
              <a:buSzPct val="100000"/>
              <a:buChar char="•"/>
            </a:pPr>
            <a:r>
              <a:rPr lang="en-US" sz="1800" dirty="0">
                <a:solidFill>
                  <a:schemeClr val="tx1"/>
                </a:solidFill>
              </a:rPr>
              <a:t>URR 725 for reimbursements</a:t>
            </a:r>
            <a:endParaRPr lang="en-US" sz="1800" dirty="0"/>
          </a:p>
          <a:p>
            <a:pPr marL="177800" indent="-177800">
              <a:spcAft>
                <a:spcPts val="800"/>
              </a:spcAft>
              <a:buSzPct val="100000"/>
              <a:buChar char="•"/>
            </a:pPr>
            <a:r>
              <a:rPr lang="en-US" sz="1800" dirty="0">
                <a:solidFill>
                  <a:schemeClr val="tx1"/>
                </a:solidFill>
              </a:rPr>
              <a:t>ISBP 745 and ISP 98</a:t>
            </a:r>
            <a:endParaRPr lang="en-US" sz="1800" dirty="0"/>
          </a:p>
          <a:p>
            <a:pPr marL="177800" indent="-177800">
              <a:spcAft>
                <a:spcPts val="800"/>
              </a:spcAft>
              <a:buSzPct val="100000"/>
              <a:buChar char="•"/>
            </a:pPr>
            <a:r>
              <a:rPr lang="en-US" sz="1800" dirty="0">
                <a:solidFill>
                  <a:schemeClr val="tx1"/>
                </a:solidFill>
              </a:rPr>
              <a:t>URDG 758 for demand guarantees</a:t>
            </a:r>
            <a:endParaRPr lang="en-US" sz="1800" dirty="0"/>
          </a:p>
          <a:p>
            <a:pPr marL="177800" indent="-177800">
              <a:spcAft>
                <a:spcPts val="800"/>
              </a:spcAft>
              <a:buSzPct val="100000"/>
              <a:buChar char="•"/>
            </a:pPr>
            <a:r>
              <a:rPr lang="en-US" sz="1800" dirty="0">
                <a:solidFill>
                  <a:schemeClr val="tx1"/>
                </a:solidFill>
              </a:rPr>
              <a:t>Incoterms and GATT</a:t>
            </a:r>
            <a:endParaRPr lang="en-US" sz="1800" dirty="0"/>
          </a:p>
        </p:txBody>
      </p:sp>
      <p:sp>
        <p:nvSpPr>
          <p:cNvPr id="11" name="Key rule"/>
          <p:cNvSpPr/>
          <p:nvPr/>
        </p:nvSpPr>
        <p:spPr>
          <a:xfrm>
            <a:off x="548640" y="5486400"/>
            <a:ext cx="11094415" cy="685800"/>
          </a:xfrm>
          <a:prstGeom prst="roundRect">
            <a:avLst>
              <a:gd name="adj" fmla="val 10667"/>
            </a:avLst>
          </a:prstGeom>
          <a:solidFill>
            <a:schemeClr val="bg2"/>
          </a:solidFill>
          <a:ln w="12700">
            <a:solidFill>
              <a:schemeClr val="bg2"/>
            </a:solidFill>
            <a:prstDash val="solid"/>
          </a:ln>
        </p:spPr>
      </p:sp>
      <p:sp>
        <p:nvSpPr>
          <p:cNvPr id="12" name="Text 8"/>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500" b="1" dirty="0">
                <a:solidFill>
                  <a:schemeClr val="accent3"/>
                </a:solidFill>
              </a:rPr>
              <a:t>Key duty for ADs: </a:t>
            </a:r>
            <a:pPr indent="0" marL="0">
              <a:buNone/>
            </a:pPr>
            <a:r>
              <a:rPr lang="en-US" sz="1500" dirty="0">
                <a:solidFill>
                  <a:schemeClr val="tx1"/>
                </a:solidFill>
              </a:rPr>
              <a:t>before opening an LC, confirm both parties are genuine, the source country usually exports the goods, and the price is competitive.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Our controls work at four layers</a:t>
            </a:r>
            <a:endParaRPr lang="en-US" sz="3200" dirty="0"/>
          </a:p>
        </p:txBody>
      </p:sp>
      <p:sp>
        <p:nvSpPr>
          <p:cNvPr id="3" name="Infrastructure chevron"/>
          <p:cNvSpPr/>
          <p:nvPr/>
        </p:nvSpPr>
        <p:spPr>
          <a:xfrm>
            <a:off x="548640" y="1371600"/>
            <a:ext cx="2670734" cy="914400"/>
          </a:xfrm>
          <a:prstGeom prst="chevron">
            <a:avLst/>
          </a:prstGeom>
          <a:solidFill>
            <a:schemeClr val="accent1"/>
          </a:solidFill>
          <a:ln w="12700">
            <a:solidFill>
              <a:schemeClr val="bg1"/>
            </a:solidFill>
            <a:prstDash val="solid"/>
          </a:ln>
        </p:spPr>
      </p:sp>
      <p:sp>
        <p:nvSpPr>
          <p:cNvPr id="4" name="Text 2"/>
          <p:cNvSpPr txBox="1"/>
          <p:nvPr/>
        </p:nvSpPr>
        <p:spPr>
          <a:xfrm>
            <a:off x="868680" y="1371600"/>
            <a:ext cx="2030654" cy="914400"/>
          </a:xfrm>
          <a:prstGeom prst="rect">
            <a:avLst/>
          </a:prstGeom>
          <a:noFill/>
          <a:ln/>
        </p:spPr>
        <p:txBody>
          <a:bodyPr wrap="square" lIns="0" tIns="0" rIns="0" bIns="0" rtlCol="0" anchor="ctr"/>
          <a:lstStyle/>
          <a:p>
            <a:pPr algn="ctr" indent="0" marL="0">
              <a:buNone/>
            </a:pPr>
            <a:r>
              <a:rPr lang="en-US" sz="1800" b="1" dirty="0">
                <a:solidFill>
                  <a:schemeClr val="bg1"/>
                </a:solidFill>
              </a:rPr>
              <a:t>1  Infrastructure</a:t>
            </a:r>
            <a:endParaRPr lang="en-US" sz="1800" dirty="0"/>
          </a:p>
        </p:txBody>
      </p:sp>
      <p:sp>
        <p:nvSpPr>
          <p:cNvPr id="5" name="Text 3"/>
          <p:cNvSpPr txBox="1"/>
          <p:nvPr/>
        </p:nvSpPr>
        <p:spPr>
          <a:xfrm>
            <a:off x="640080" y="2423160"/>
            <a:ext cx="2396414" cy="685800"/>
          </a:xfrm>
          <a:prstGeom prst="rect">
            <a:avLst/>
          </a:prstGeom>
          <a:noFill/>
          <a:ln/>
        </p:spPr>
        <p:txBody>
          <a:bodyPr wrap="square" lIns="0" tIns="0" rIns="0" bIns="0" rtlCol="0" anchor="t"/>
          <a:lstStyle/>
          <a:p>
            <a:pPr indent="0" marL="0">
              <a:buNone/>
            </a:pPr>
            <a:r>
              <a:rPr lang="en-US" sz="1500" dirty="0">
                <a:solidFill>
                  <a:schemeClr val="tx1"/>
                </a:solidFill>
              </a:rPr>
              <a:t>Tools for screening, price checks and monitoring</a:t>
            </a:r>
            <a:endParaRPr lang="en-US" sz="1500" dirty="0"/>
          </a:p>
        </p:txBody>
      </p:sp>
      <p:sp>
        <p:nvSpPr>
          <p:cNvPr id="6" name="Customer chevron"/>
          <p:cNvSpPr/>
          <p:nvPr/>
        </p:nvSpPr>
        <p:spPr>
          <a:xfrm>
            <a:off x="3356534" y="1371600"/>
            <a:ext cx="2670734" cy="914400"/>
          </a:xfrm>
          <a:prstGeom prst="chevron">
            <a:avLst/>
          </a:prstGeom>
          <a:solidFill>
            <a:schemeClr val="accent1"/>
          </a:solidFill>
          <a:ln w="12700">
            <a:solidFill>
              <a:schemeClr val="bg1"/>
            </a:solidFill>
            <a:prstDash val="solid"/>
          </a:ln>
        </p:spPr>
      </p:sp>
      <p:sp>
        <p:nvSpPr>
          <p:cNvPr id="7" name="Text 5"/>
          <p:cNvSpPr txBox="1"/>
          <p:nvPr/>
        </p:nvSpPr>
        <p:spPr>
          <a:xfrm>
            <a:off x="3676574" y="1371600"/>
            <a:ext cx="2030654" cy="914400"/>
          </a:xfrm>
          <a:prstGeom prst="rect">
            <a:avLst/>
          </a:prstGeom>
          <a:noFill/>
          <a:ln/>
        </p:spPr>
        <p:txBody>
          <a:bodyPr wrap="square" lIns="0" tIns="0" rIns="0" bIns="0" rtlCol="0" anchor="ctr"/>
          <a:lstStyle/>
          <a:p>
            <a:pPr algn="ctr" indent="0" marL="0">
              <a:buNone/>
            </a:pPr>
            <a:r>
              <a:rPr lang="en-US" sz="1800" b="1" dirty="0">
                <a:solidFill>
                  <a:schemeClr val="bg1"/>
                </a:solidFill>
              </a:rPr>
              <a:t>2  Customer</a:t>
            </a:r>
            <a:endParaRPr lang="en-US" sz="1800" dirty="0"/>
          </a:p>
        </p:txBody>
      </p:sp>
      <p:sp>
        <p:nvSpPr>
          <p:cNvPr id="8" name="Text 6"/>
          <p:cNvSpPr txBox="1"/>
          <p:nvPr/>
        </p:nvSpPr>
        <p:spPr>
          <a:xfrm>
            <a:off x="3447974" y="2423160"/>
            <a:ext cx="2396414" cy="685800"/>
          </a:xfrm>
          <a:prstGeom prst="rect">
            <a:avLst/>
          </a:prstGeom>
          <a:noFill/>
          <a:ln/>
        </p:spPr>
        <p:txBody>
          <a:bodyPr wrap="square" lIns="0" tIns="0" rIns="0" bIns="0" rtlCol="0" anchor="t"/>
          <a:lstStyle/>
          <a:p>
            <a:pPr indent="0" marL="0">
              <a:buNone/>
            </a:pPr>
            <a:r>
              <a:rPr lang="en-US" sz="1500" dirty="0">
                <a:solidFill>
                  <a:schemeClr val="tx1"/>
                </a:solidFill>
              </a:rPr>
              <a:t>Score each trade customer before onboarding</a:t>
            </a:r>
            <a:endParaRPr lang="en-US" sz="1500" dirty="0"/>
          </a:p>
        </p:txBody>
      </p:sp>
      <p:sp>
        <p:nvSpPr>
          <p:cNvPr id="9" name="Transaction chevron"/>
          <p:cNvSpPr/>
          <p:nvPr/>
        </p:nvSpPr>
        <p:spPr>
          <a:xfrm>
            <a:off x="6164428" y="1371600"/>
            <a:ext cx="2670734" cy="914400"/>
          </a:xfrm>
          <a:prstGeom prst="chevron">
            <a:avLst/>
          </a:prstGeom>
          <a:solidFill>
            <a:schemeClr val="accent3"/>
          </a:solidFill>
          <a:ln w="12700">
            <a:solidFill>
              <a:schemeClr val="bg1"/>
            </a:solidFill>
            <a:prstDash val="solid"/>
          </a:ln>
        </p:spPr>
      </p:sp>
      <p:sp>
        <p:nvSpPr>
          <p:cNvPr id="10" name="Text 8"/>
          <p:cNvSpPr txBox="1"/>
          <p:nvPr/>
        </p:nvSpPr>
        <p:spPr>
          <a:xfrm>
            <a:off x="6484468" y="1371600"/>
            <a:ext cx="2030654" cy="914400"/>
          </a:xfrm>
          <a:prstGeom prst="rect">
            <a:avLst/>
          </a:prstGeom>
          <a:noFill/>
          <a:ln/>
        </p:spPr>
        <p:txBody>
          <a:bodyPr wrap="square" lIns="0" tIns="0" rIns="0" bIns="0" rtlCol="0" anchor="ctr"/>
          <a:lstStyle/>
          <a:p>
            <a:pPr algn="ctr" indent="0" marL="0">
              <a:buNone/>
            </a:pPr>
            <a:r>
              <a:rPr lang="en-US" sz="1800" b="1" dirty="0">
                <a:solidFill>
                  <a:schemeClr val="bg1"/>
                </a:solidFill>
              </a:rPr>
              <a:t>3  Transaction</a:t>
            </a:r>
            <a:endParaRPr lang="en-US" sz="1800" dirty="0"/>
          </a:p>
        </p:txBody>
      </p:sp>
      <p:sp>
        <p:nvSpPr>
          <p:cNvPr id="11" name="Text 9"/>
          <p:cNvSpPr txBox="1"/>
          <p:nvPr/>
        </p:nvSpPr>
        <p:spPr>
          <a:xfrm>
            <a:off x="6255868" y="2423160"/>
            <a:ext cx="2396414" cy="685800"/>
          </a:xfrm>
          <a:prstGeom prst="rect">
            <a:avLst/>
          </a:prstGeom>
          <a:noFill/>
          <a:ln/>
        </p:spPr>
        <p:txBody>
          <a:bodyPr wrap="square" lIns="0" tIns="0" rIns="0" bIns="0" rtlCol="0" anchor="t"/>
          <a:lstStyle/>
          <a:p>
            <a:pPr indent="0" marL="0">
              <a:buNone/>
            </a:pPr>
            <a:r>
              <a:rPr lang="en-US" sz="1500" dirty="0">
                <a:solidFill>
                  <a:schemeClr val="tx1"/>
                </a:solidFill>
              </a:rPr>
              <a:t>Three-level review of every trade deal</a:t>
            </a:r>
            <a:endParaRPr lang="en-US" sz="1500" dirty="0"/>
          </a:p>
        </p:txBody>
      </p:sp>
      <p:sp>
        <p:nvSpPr>
          <p:cNvPr id="12" name="Enterprise chevron"/>
          <p:cNvSpPr/>
          <p:nvPr/>
        </p:nvSpPr>
        <p:spPr>
          <a:xfrm>
            <a:off x="8972321" y="1371600"/>
            <a:ext cx="2670734" cy="914400"/>
          </a:xfrm>
          <a:prstGeom prst="chevron">
            <a:avLst/>
          </a:prstGeom>
          <a:solidFill>
            <a:schemeClr val="accent1"/>
          </a:solidFill>
          <a:ln w="12700">
            <a:solidFill>
              <a:schemeClr val="bg1"/>
            </a:solidFill>
            <a:prstDash val="solid"/>
          </a:ln>
        </p:spPr>
      </p:sp>
      <p:sp>
        <p:nvSpPr>
          <p:cNvPr id="13" name="Text 11"/>
          <p:cNvSpPr txBox="1"/>
          <p:nvPr/>
        </p:nvSpPr>
        <p:spPr>
          <a:xfrm>
            <a:off x="9292361" y="1371600"/>
            <a:ext cx="2030654" cy="914400"/>
          </a:xfrm>
          <a:prstGeom prst="rect">
            <a:avLst/>
          </a:prstGeom>
          <a:noFill/>
          <a:ln/>
        </p:spPr>
        <p:txBody>
          <a:bodyPr wrap="square" lIns="0" tIns="0" rIns="0" bIns="0" rtlCol="0" anchor="ctr"/>
          <a:lstStyle/>
          <a:p>
            <a:pPr algn="ctr" indent="0" marL="0">
              <a:buNone/>
            </a:pPr>
            <a:r>
              <a:rPr lang="en-US" sz="1800" b="1" dirty="0">
                <a:solidFill>
                  <a:schemeClr val="bg1"/>
                </a:solidFill>
              </a:rPr>
              <a:t>4  Enterprise</a:t>
            </a:r>
            <a:endParaRPr lang="en-US" sz="1800" dirty="0"/>
          </a:p>
        </p:txBody>
      </p:sp>
      <p:sp>
        <p:nvSpPr>
          <p:cNvPr id="14" name="Text 12"/>
          <p:cNvSpPr txBox="1"/>
          <p:nvPr/>
        </p:nvSpPr>
        <p:spPr>
          <a:xfrm>
            <a:off x="9063761" y="2423160"/>
            <a:ext cx="2396414" cy="685800"/>
          </a:xfrm>
          <a:prstGeom prst="rect">
            <a:avLst/>
          </a:prstGeom>
          <a:noFill/>
          <a:ln/>
        </p:spPr>
        <p:txBody>
          <a:bodyPr wrap="square" lIns="0" tIns="0" rIns="0" bIns="0" rtlCol="0" anchor="t"/>
          <a:lstStyle/>
          <a:p>
            <a:pPr indent="0" marL="0">
              <a:buNone/>
            </a:pPr>
            <a:r>
              <a:rPr lang="en-US" sz="1500" dirty="0">
                <a:solidFill>
                  <a:schemeClr val="tx1"/>
                </a:solidFill>
              </a:rPr>
              <a:t>Annual bank-wide review led by senior management</a:t>
            </a:r>
            <a:endParaRPr lang="en-US" sz="1500" dirty="0"/>
          </a:p>
        </p:txBody>
      </p:sp>
      <p:sp>
        <p:nvSpPr>
          <p:cNvPr id="15" name="Text 13"/>
          <p:cNvSpPr txBox="1"/>
          <p:nvPr/>
        </p:nvSpPr>
        <p:spPr>
          <a:xfrm>
            <a:off x="548640" y="3200400"/>
            <a:ext cx="11094415" cy="365760"/>
          </a:xfrm>
          <a:prstGeom prst="rect">
            <a:avLst/>
          </a:prstGeom>
          <a:noFill/>
          <a:ln/>
        </p:spPr>
        <p:txBody>
          <a:bodyPr wrap="square" lIns="0" tIns="0" rIns="0" bIns="0" rtlCol="0" anchor="ctr"/>
          <a:lstStyle/>
          <a:p>
            <a:pPr indent="0" marL="0">
              <a:buNone/>
            </a:pPr>
            <a:r>
              <a:rPr lang="en-US" sz="1400" i="1" dirty="0">
                <a:solidFill>
                  <a:schemeClr val="accent3"/>
                </a:solidFill>
              </a:rPr>
              <a:t>Laundering takes place at the transaction layer, so most of the policy's controls sit there.</a:t>
            </a:r>
            <a:endParaRPr lang="en-US" sz="1400" dirty="0"/>
          </a:p>
        </p:txBody>
      </p:sp>
      <p:sp>
        <p:nvSpPr>
          <p:cNvPr id="16" name="Infrastructure panel"/>
          <p:cNvSpPr/>
          <p:nvPr/>
        </p:nvSpPr>
        <p:spPr>
          <a:xfrm>
            <a:off x="548640" y="3794760"/>
            <a:ext cx="11094415" cy="2377440"/>
          </a:xfrm>
          <a:prstGeom prst="roundRect">
            <a:avLst>
              <a:gd name="adj" fmla="val 3077"/>
            </a:avLst>
          </a:prstGeom>
          <a:solidFill>
            <a:schemeClr val="bg2"/>
          </a:solidFill>
          <a:ln w="12700">
            <a:solidFill>
              <a:schemeClr val="bg2"/>
            </a:solidFill>
            <a:prstDash val="solid"/>
          </a:ln>
        </p:spPr>
      </p:sp>
      <p:sp>
        <p:nvSpPr>
          <p:cNvPr id="17" name="Text 15"/>
          <p:cNvSpPr txBox="1"/>
          <p:nvPr/>
        </p:nvSpPr>
        <p:spPr>
          <a:xfrm>
            <a:off x="822960" y="4069080"/>
            <a:ext cx="73152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Infrastructure the bank is putting in place</a:t>
            </a:r>
            <a:endParaRPr lang="en-US" sz="1800" dirty="0"/>
          </a:p>
        </p:txBody>
      </p:sp>
      <p:sp>
        <p:nvSpPr>
          <p:cNvPr id="18" name="Sanction screening circle"/>
          <p:cNvSpPr/>
          <p:nvPr/>
        </p:nvSpPr>
        <p:spPr>
          <a:xfrm>
            <a:off x="822960" y="4892040"/>
            <a:ext cx="731520" cy="731520"/>
          </a:xfrm>
          <a:prstGeom prst="ellipse">
            <a:avLst/>
          </a:prstGeom>
          <a:solidFill>
            <a:srgbClr val="6B1820"/>
          </a:solidFill>
          <a:ln w="12700">
            <a:solidFill>
              <a:srgbClr val="6B1820"/>
            </a:solidFill>
            <a:prstDash val="solid"/>
          </a:ln>
        </p:spPr>
      </p:sp>
      <p:pic>
        <p:nvPicPr>
          <p:cNvPr id="19" name="Sanction screening icon" descr="preencoded.png">    </p:cNvPr>
          <p:cNvPicPr>
            <a:picLocks noChangeAspect="1"/>
          </p:cNvPicPr>
          <p:nvPr/>
        </p:nvPicPr>
        <p:blipFill>
          <a:blip r:embed="rId1"/>
          <a:stretch>
            <a:fillRect/>
          </a:stretch>
        </p:blipFill>
        <p:spPr>
          <a:xfrm>
            <a:off x="1005840" y="5074920"/>
            <a:ext cx="365760" cy="365760"/>
          </a:xfrm>
          <a:prstGeom prst="rect">
            <a:avLst/>
          </a:prstGeom>
        </p:spPr>
      </p:pic>
      <p:sp>
        <p:nvSpPr>
          <p:cNvPr id="20" name="Text 17"/>
          <p:cNvSpPr txBox="1"/>
          <p:nvPr/>
        </p:nvSpPr>
        <p:spPr>
          <a:xfrm>
            <a:off x="1691640" y="4892040"/>
            <a:ext cx="1767764" cy="365760"/>
          </a:xfrm>
          <a:prstGeom prst="rect">
            <a:avLst/>
          </a:prstGeom>
          <a:noFill/>
          <a:ln/>
        </p:spPr>
        <p:txBody>
          <a:bodyPr wrap="square" lIns="0" tIns="0" rIns="0" bIns="0" rtlCol="0" anchor="ctr"/>
          <a:lstStyle/>
          <a:p>
            <a:pPr indent="0" marL="0">
              <a:buNone/>
            </a:pPr>
            <a:r>
              <a:rPr lang="en-US" sz="1600" b="1" dirty="0">
                <a:solidFill>
                  <a:schemeClr val="tx1"/>
                </a:solidFill>
              </a:rPr>
              <a:t>Sanction screening</a:t>
            </a:r>
            <a:endParaRPr lang="en-US" sz="1600" dirty="0"/>
          </a:p>
        </p:txBody>
      </p:sp>
      <p:sp>
        <p:nvSpPr>
          <p:cNvPr id="21" name="Text 18"/>
          <p:cNvSpPr txBox="1"/>
          <p:nvPr/>
        </p:nvSpPr>
        <p:spPr>
          <a:xfrm>
            <a:off x="1691640" y="5257800"/>
            <a:ext cx="1676324" cy="548640"/>
          </a:xfrm>
          <a:prstGeom prst="rect">
            <a:avLst/>
          </a:prstGeom>
          <a:noFill/>
          <a:ln/>
        </p:spPr>
        <p:txBody>
          <a:bodyPr wrap="square" lIns="0" tIns="0" rIns="0" bIns="0" rtlCol="0" anchor="t"/>
          <a:lstStyle/>
          <a:p>
            <a:pPr indent="0" marL="0">
              <a:buNone/>
            </a:pPr>
            <a:r>
              <a:rPr lang="en-US" sz="1400" dirty="0">
                <a:solidFill>
                  <a:schemeClr val="tx1"/>
                </a:solidFill>
              </a:rPr>
              <a:t>Automated and manual</a:t>
            </a:r>
            <a:endParaRPr lang="en-US" sz="1400" dirty="0"/>
          </a:p>
        </p:txBody>
      </p:sp>
      <p:sp>
        <p:nvSpPr>
          <p:cNvPr id="22" name="Own price database circle"/>
          <p:cNvSpPr/>
          <p:nvPr/>
        </p:nvSpPr>
        <p:spPr>
          <a:xfrm>
            <a:off x="3459404" y="4892040"/>
            <a:ext cx="731520" cy="731520"/>
          </a:xfrm>
          <a:prstGeom prst="ellipse">
            <a:avLst/>
          </a:prstGeom>
          <a:solidFill>
            <a:srgbClr val="6B1820"/>
          </a:solidFill>
          <a:ln w="12700">
            <a:solidFill>
              <a:srgbClr val="6B1820"/>
            </a:solidFill>
            <a:prstDash val="solid"/>
          </a:ln>
        </p:spPr>
      </p:sp>
      <p:pic>
        <p:nvPicPr>
          <p:cNvPr id="23" name="Own price database icon" descr="preencoded.png">    </p:cNvPr>
          <p:cNvPicPr>
            <a:picLocks noChangeAspect="1"/>
          </p:cNvPicPr>
          <p:nvPr/>
        </p:nvPicPr>
        <p:blipFill>
          <a:blip r:embed="rId2"/>
          <a:stretch>
            <a:fillRect/>
          </a:stretch>
        </p:blipFill>
        <p:spPr>
          <a:xfrm>
            <a:off x="3642284" y="5074920"/>
            <a:ext cx="365760" cy="365760"/>
          </a:xfrm>
          <a:prstGeom prst="rect">
            <a:avLst/>
          </a:prstGeom>
        </p:spPr>
      </p:pic>
      <p:sp>
        <p:nvSpPr>
          <p:cNvPr id="24" name="Text 20"/>
          <p:cNvSpPr txBox="1"/>
          <p:nvPr/>
        </p:nvSpPr>
        <p:spPr>
          <a:xfrm>
            <a:off x="4328084" y="4892040"/>
            <a:ext cx="1767764" cy="365760"/>
          </a:xfrm>
          <a:prstGeom prst="rect">
            <a:avLst/>
          </a:prstGeom>
          <a:noFill/>
          <a:ln/>
        </p:spPr>
        <p:txBody>
          <a:bodyPr wrap="square" lIns="0" tIns="0" rIns="0" bIns="0" rtlCol="0" anchor="ctr"/>
          <a:lstStyle/>
          <a:p>
            <a:pPr indent="0" marL="0">
              <a:buNone/>
            </a:pPr>
            <a:r>
              <a:rPr lang="en-US" sz="1600" b="1" dirty="0">
                <a:solidFill>
                  <a:schemeClr val="tx1"/>
                </a:solidFill>
              </a:rPr>
              <a:t>Own price database</a:t>
            </a:r>
            <a:endParaRPr lang="en-US" sz="1600" dirty="0"/>
          </a:p>
        </p:txBody>
      </p:sp>
      <p:sp>
        <p:nvSpPr>
          <p:cNvPr id="25" name="Text 21"/>
          <p:cNvSpPr txBox="1"/>
          <p:nvPr/>
        </p:nvSpPr>
        <p:spPr>
          <a:xfrm>
            <a:off x="4328084" y="5257800"/>
            <a:ext cx="1676324" cy="548640"/>
          </a:xfrm>
          <a:prstGeom prst="rect">
            <a:avLst/>
          </a:prstGeom>
          <a:noFill/>
          <a:ln/>
        </p:spPr>
        <p:txBody>
          <a:bodyPr wrap="square" lIns="0" tIns="0" rIns="0" bIns="0" rtlCol="0" anchor="t"/>
          <a:lstStyle/>
          <a:p>
            <a:pPr indent="0" marL="0">
              <a:buNone/>
            </a:pPr>
            <a:r>
              <a:rPr lang="en-US" sz="1400" dirty="0">
                <a:solidFill>
                  <a:schemeClr val="tx1"/>
                </a:solidFill>
              </a:rPr>
              <a:t>Built from our transactions</a:t>
            </a:r>
            <a:endParaRPr lang="en-US" sz="1400" dirty="0"/>
          </a:p>
        </p:txBody>
      </p:sp>
      <p:sp>
        <p:nvSpPr>
          <p:cNvPr id="26" name="Commodity pricing circle"/>
          <p:cNvSpPr/>
          <p:nvPr/>
        </p:nvSpPr>
        <p:spPr>
          <a:xfrm>
            <a:off x="6095848" y="4892040"/>
            <a:ext cx="731520" cy="731520"/>
          </a:xfrm>
          <a:prstGeom prst="ellipse">
            <a:avLst/>
          </a:prstGeom>
          <a:solidFill>
            <a:srgbClr val="6B1820"/>
          </a:solidFill>
          <a:ln w="12700">
            <a:solidFill>
              <a:srgbClr val="6B1820"/>
            </a:solidFill>
            <a:prstDash val="solid"/>
          </a:ln>
        </p:spPr>
      </p:sp>
      <p:pic>
        <p:nvPicPr>
          <p:cNvPr id="27" name="Commodity pricing icon" descr="preencoded.png">    </p:cNvPr>
          <p:cNvPicPr>
            <a:picLocks noChangeAspect="1"/>
          </p:cNvPicPr>
          <p:nvPr/>
        </p:nvPicPr>
        <p:blipFill>
          <a:blip r:embed="rId3"/>
          <a:stretch>
            <a:fillRect/>
          </a:stretch>
        </p:blipFill>
        <p:spPr>
          <a:xfrm>
            <a:off x="6278728" y="5074920"/>
            <a:ext cx="365760" cy="365760"/>
          </a:xfrm>
          <a:prstGeom prst="rect">
            <a:avLst/>
          </a:prstGeom>
        </p:spPr>
      </p:pic>
      <p:sp>
        <p:nvSpPr>
          <p:cNvPr id="28" name="Text 23"/>
          <p:cNvSpPr txBox="1"/>
          <p:nvPr/>
        </p:nvSpPr>
        <p:spPr>
          <a:xfrm>
            <a:off x="6964528" y="4892040"/>
            <a:ext cx="1767764" cy="365760"/>
          </a:xfrm>
          <a:prstGeom prst="rect">
            <a:avLst/>
          </a:prstGeom>
          <a:noFill/>
          <a:ln/>
        </p:spPr>
        <p:txBody>
          <a:bodyPr wrap="square" lIns="0" tIns="0" rIns="0" bIns="0" rtlCol="0" anchor="ctr"/>
          <a:lstStyle/>
          <a:p>
            <a:pPr indent="0" marL="0">
              <a:buNone/>
            </a:pPr>
            <a:r>
              <a:rPr lang="en-US" sz="1600" b="1" dirty="0">
                <a:solidFill>
                  <a:schemeClr val="tx1"/>
                </a:solidFill>
              </a:rPr>
              <a:t>Commodity pricing</a:t>
            </a:r>
            <a:endParaRPr lang="en-US" sz="1600" dirty="0"/>
          </a:p>
        </p:txBody>
      </p:sp>
      <p:sp>
        <p:nvSpPr>
          <p:cNvPr id="29" name="Text 24"/>
          <p:cNvSpPr txBox="1"/>
          <p:nvPr/>
        </p:nvSpPr>
        <p:spPr>
          <a:xfrm>
            <a:off x="6964528" y="5257800"/>
            <a:ext cx="1676324" cy="548640"/>
          </a:xfrm>
          <a:prstGeom prst="rect">
            <a:avLst/>
          </a:prstGeom>
          <a:noFill/>
          <a:ln/>
        </p:spPr>
        <p:txBody>
          <a:bodyPr wrap="square" lIns="0" tIns="0" rIns="0" bIns="0" rtlCol="0" anchor="t"/>
          <a:lstStyle/>
          <a:p>
            <a:pPr indent="0" marL="0">
              <a:buNone/>
            </a:pPr>
            <a:r>
              <a:rPr lang="en-US" sz="1400" dirty="0">
                <a:solidFill>
                  <a:schemeClr val="tx1"/>
                </a:solidFill>
              </a:rPr>
              <a:t>Online price subscription</a:t>
            </a:r>
            <a:endParaRPr lang="en-US" sz="1400" dirty="0"/>
          </a:p>
        </p:txBody>
      </p:sp>
      <p:sp>
        <p:nvSpPr>
          <p:cNvPr id="30" name="Vessel tracking circle"/>
          <p:cNvSpPr/>
          <p:nvPr/>
        </p:nvSpPr>
        <p:spPr>
          <a:xfrm>
            <a:off x="8732291" y="4892040"/>
            <a:ext cx="731520" cy="731520"/>
          </a:xfrm>
          <a:prstGeom prst="ellipse">
            <a:avLst/>
          </a:prstGeom>
          <a:solidFill>
            <a:srgbClr val="6B1820"/>
          </a:solidFill>
          <a:ln w="12700">
            <a:solidFill>
              <a:srgbClr val="6B1820"/>
            </a:solidFill>
            <a:prstDash val="solid"/>
          </a:ln>
        </p:spPr>
      </p:sp>
      <p:pic>
        <p:nvPicPr>
          <p:cNvPr id="31" name="Vessel tracking icon" descr="preencoded.png">    </p:cNvPr>
          <p:cNvPicPr>
            <a:picLocks noChangeAspect="1"/>
          </p:cNvPicPr>
          <p:nvPr/>
        </p:nvPicPr>
        <p:blipFill>
          <a:blip r:embed="rId4"/>
          <a:stretch>
            <a:fillRect/>
          </a:stretch>
        </p:blipFill>
        <p:spPr>
          <a:xfrm>
            <a:off x="8915171" y="5074920"/>
            <a:ext cx="365760" cy="365760"/>
          </a:xfrm>
          <a:prstGeom prst="rect">
            <a:avLst/>
          </a:prstGeom>
        </p:spPr>
      </p:pic>
      <p:sp>
        <p:nvSpPr>
          <p:cNvPr id="32" name="Text 26"/>
          <p:cNvSpPr txBox="1"/>
          <p:nvPr/>
        </p:nvSpPr>
        <p:spPr>
          <a:xfrm>
            <a:off x="9600971" y="4892040"/>
            <a:ext cx="1767764" cy="365760"/>
          </a:xfrm>
          <a:prstGeom prst="rect">
            <a:avLst/>
          </a:prstGeom>
          <a:noFill/>
          <a:ln/>
        </p:spPr>
        <p:txBody>
          <a:bodyPr wrap="square" lIns="0" tIns="0" rIns="0" bIns="0" rtlCol="0" anchor="ctr"/>
          <a:lstStyle/>
          <a:p>
            <a:pPr indent="0" marL="0">
              <a:buNone/>
            </a:pPr>
            <a:r>
              <a:rPr lang="en-US" sz="1600" b="1" dirty="0">
                <a:solidFill>
                  <a:schemeClr val="tx1"/>
                </a:solidFill>
              </a:rPr>
              <a:t>Vessel tracking</a:t>
            </a:r>
            <a:endParaRPr lang="en-US" sz="1600" dirty="0"/>
          </a:p>
        </p:txBody>
      </p:sp>
      <p:sp>
        <p:nvSpPr>
          <p:cNvPr id="33" name="Text 27"/>
          <p:cNvSpPr txBox="1"/>
          <p:nvPr/>
        </p:nvSpPr>
        <p:spPr>
          <a:xfrm>
            <a:off x="9600971" y="5257800"/>
            <a:ext cx="1676324" cy="548640"/>
          </a:xfrm>
          <a:prstGeom prst="rect">
            <a:avLst/>
          </a:prstGeom>
          <a:noFill/>
          <a:ln/>
        </p:spPr>
        <p:txBody>
          <a:bodyPr wrap="square" lIns="0" tIns="0" rIns="0" bIns="0" rtlCol="0" anchor="t"/>
          <a:lstStyle/>
          <a:p>
            <a:pPr indent="0" marL="0">
              <a:buNone/>
            </a:pPr>
            <a:r>
              <a:rPr lang="en-US" sz="1400" dirty="0">
                <a:solidFill>
                  <a:schemeClr val="tx1"/>
                </a:solidFill>
              </a:rPr>
              <a:t>Route and port history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Every trade customer gets a risk score</a:t>
            </a:r>
            <a:endParaRPr lang="en-US" sz="3200" dirty="0"/>
          </a:p>
        </p:txBody>
      </p:sp>
      <p:sp>
        <p:nvSpPr>
          <p:cNvPr id="3" name="Text 1"/>
          <p:cNvSpPr txBox="1"/>
          <p:nvPr/>
        </p:nvSpPr>
        <p:spPr>
          <a:xfrm>
            <a:off x="548640" y="1325880"/>
            <a:ext cx="5120640" cy="365760"/>
          </a:xfrm>
          <a:prstGeom prst="rect">
            <a:avLst/>
          </a:prstGeom>
          <a:noFill/>
          <a:ln/>
        </p:spPr>
        <p:txBody>
          <a:bodyPr wrap="square" lIns="0" tIns="0" rIns="0" bIns="0" rtlCol="0" anchor="ctr"/>
          <a:lstStyle/>
          <a:p>
            <a:pPr indent="0" marL="0">
              <a:buNone/>
            </a:pPr>
            <a:r>
              <a:rPr lang="en-US" sz="1600" b="1" dirty="0">
                <a:solidFill>
                  <a:schemeClr val="accent1"/>
                </a:solidFill>
              </a:rPr>
              <a:t>25 parameters in four groups, each scored 0 to 3</a:t>
            </a:r>
            <a:endParaRPr lang="en-US" sz="1600" dirty="0"/>
          </a:p>
        </p:txBody>
      </p:sp>
      <p:sp>
        <p:nvSpPr>
          <p:cNvPr id="4" name="Customer card"/>
          <p:cNvSpPr/>
          <p:nvPr/>
        </p:nvSpPr>
        <p:spPr>
          <a:xfrm>
            <a:off x="548640" y="1828800"/>
            <a:ext cx="5120640" cy="960120"/>
          </a:xfrm>
          <a:prstGeom prst="roundRect">
            <a:avLst>
              <a:gd name="adj" fmla="val 7619"/>
            </a:avLst>
          </a:prstGeom>
          <a:solidFill>
            <a:schemeClr val="bg2"/>
          </a:solidFill>
          <a:ln w="12700">
            <a:solidFill>
              <a:schemeClr val="bg2"/>
            </a:solidFill>
            <a:prstDash val="solid"/>
          </a:ln>
        </p:spPr>
      </p:sp>
      <p:sp>
        <p:nvSpPr>
          <p:cNvPr id="5" name="Customer circle"/>
          <p:cNvSpPr/>
          <p:nvPr/>
        </p:nvSpPr>
        <p:spPr>
          <a:xfrm>
            <a:off x="731520" y="1984248"/>
            <a:ext cx="640080" cy="640080"/>
          </a:xfrm>
          <a:prstGeom prst="ellipse">
            <a:avLst/>
          </a:prstGeom>
          <a:solidFill>
            <a:srgbClr val="912125"/>
          </a:solidFill>
          <a:ln w="12700">
            <a:solidFill>
              <a:srgbClr val="912125"/>
            </a:solidFill>
            <a:prstDash val="solid"/>
          </a:ln>
        </p:spPr>
      </p:sp>
      <p:pic>
        <p:nvPicPr>
          <p:cNvPr id="6" name="Customer icon" descr="preencoded.png">    </p:cNvPr>
          <p:cNvPicPr>
            <a:picLocks noChangeAspect="1"/>
          </p:cNvPicPr>
          <p:nvPr/>
        </p:nvPicPr>
        <p:blipFill>
          <a:blip r:embed="rId1"/>
          <a:stretch>
            <a:fillRect/>
          </a:stretch>
        </p:blipFill>
        <p:spPr>
          <a:xfrm>
            <a:off x="891540" y="2144268"/>
            <a:ext cx="320040" cy="320040"/>
          </a:xfrm>
          <a:prstGeom prst="rect">
            <a:avLst/>
          </a:prstGeom>
        </p:spPr>
      </p:pic>
      <p:sp>
        <p:nvSpPr>
          <p:cNvPr id="7" name="Text 4"/>
          <p:cNvSpPr txBox="1"/>
          <p:nvPr/>
        </p:nvSpPr>
        <p:spPr>
          <a:xfrm>
            <a:off x="1554480" y="1938528"/>
            <a:ext cx="3931920" cy="347472"/>
          </a:xfrm>
          <a:prstGeom prst="rect">
            <a:avLst/>
          </a:prstGeom>
          <a:noFill/>
          <a:ln/>
        </p:spPr>
        <p:txBody>
          <a:bodyPr wrap="square" lIns="0" tIns="0" rIns="0" bIns="0" rtlCol="0" anchor="ctr"/>
          <a:lstStyle/>
          <a:p>
            <a:pPr indent="0" marL="0">
              <a:buNone/>
            </a:pPr>
            <a:r>
              <a:rPr lang="en-US" sz="1700" b="1" dirty="0">
                <a:solidFill>
                  <a:schemeClr val="tx2"/>
                </a:solidFill>
              </a:rPr>
              <a:t>Customer</a:t>
            </a:r>
            <a:endParaRPr lang="en-US" sz="1700" dirty="0"/>
          </a:p>
        </p:txBody>
      </p:sp>
      <p:sp>
        <p:nvSpPr>
          <p:cNvPr id="8" name="Text 5"/>
          <p:cNvSpPr txBox="1"/>
          <p:nvPr/>
        </p:nvSpPr>
        <p:spPr>
          <a:xfrm>
            <a:off x="1554480" y="2286000"/>
            <a:ext cx="3931920" cy="411480"/>
          </a:xfrm>
          <a:prstGeom prst="rect">
            <a:avLst/>
          </a:prstGeom>
          <a:noFill/>
          <a:ln/>
        </p:spPr>
        <p:txBody>
          <a:bodyPr wrap="square" lIns="0" tIns="0" rIns="0" bIns="0" rtlCol="0" anchor="ctr"/>
          <a:lstStyle/>
          <a:p>
            <a:pPr indent="0" marL="0">
              <a:buNone/>
            </a:pPr>
            <a:r>
              <a:rPr lang="en-US" sz="1400" dirty="0">
                <a:solidFill>
                  <a:schemeClr val="tx1"/>
                </a:solidFill>
              </a:rPr>
              <a:t>History, payment record, adverse media, lawsuits</a:t>
            </a:r>
            <a:endParaRPr lang="en-US" sz="1400" dirty="0"/>
          </a:p>
        </p:txBody>
      </p:sp>
      <p:sp>
        <p:nvSpPr>
          <p:cNvPr id="9" name="Geography card"/>
          <p:cNvSpPr/>
          <p:nvPr/>
        </p:nvSpPr>
        <p:spPr>
          <a:xfrm>
            <a:off x="548640" y="2926080"/>
            <a:ext cx="5120640" cy="960120"/>
          </a:xfrm>
          <a:prstGeom prst="roundRect">
            <a:avLst>
              <a:gd name="adj" fmla="val 7619"/>
            </a:avLst>
          </a:prstGeom>
          <a:solidFill>
            <a:schemeClr val="bg2"/>
          </a:solidFill>
          <a:ln w="12700">
            <a:solidFill>
              <a:schemeClr val="bg2"/>
            </a:solidFill>
            <a:prstDash val="solid"/>
          </a:ln>
        </p:spPr>
      </p:sp>
      <p:sp>
        <p:nvSpPr>
          <p:cNvPr id="10" name="Geography circle"/>
          <p:cNvSpPr/>
          <p:nvPr/>
        </p:nvSpPr>
        <p:spPr>
          <a:xfrm>
            <a:off x="731520" y="3081528"/>
            <a:ext cx="640080" cy="640080"/>
          </a:xfrm>
          <a:prstGeom prst="ellipse">
            <a:avLst/>
          </a:prstGeom>
          <a:solidFill>
            <a:srgbClr val="912125"/>
          </a:solidFill>
          <a:ln w="12700">
            <a:solidFill>
              <a:srgbClr val="912125"/>
            </a:solidFill>
            <a:prstDash val="solid"/>
          </a:ln>
        </p:spPr>
      </p:sp>
      <p:pic>
        <p:nvPicPr>
          <p:cNvPr id="11" name="Geography icon" descr="preencoded.png">    </p:cNvPr>
          <p:cNvPicPr>
            <a:picLocks noChangeAspect="1"/>
          </p:cNvPicPr>
          <p:nvPr/>
        </p:nvPicPr>
        <p:blipFill>
          <a:blip r:embed="rId2"/>
          <a:stretch>
            <a:fillRect/>
          </a:stretch>
        </p:blipFill>
        <p:spPr>
          <a:xfrm>
            <a:off x="891540" y="3241548"/>
            <a:ext cx="320040" cy="320040"/>
          </a:xfrm>
          <a:prstGeom prst="rect">
            <a:avLst/>
          </a:prstGeom>
        </p:spPr>
      </p:pic>
      <p:sp>
        <p:nvSpPr>
          <p:cNvPr id="12" name="Text 8"/>
          <p:cNvSpPr txBox="1"/>
          <p:nvPr/>
        </p:nvSpPr>
        <p:spPr>
          <a:xfrm>
            <a:off x="1554480" y="3035808"/>
            <a:ext cx="3931920" cy="347472"/>
          </a:xfrm>
          <a:prstGeom prst="rect">
            <a:avLst/>
          </a:prstGeom>
          <a:noFill/>
          <a:ln/>
        </p:spPr>
        <p:txBody>
          <a:bodyPr wrap="square" lIns="0" tIns="0" rIns="0" bIns="0" rtlCol="0" anchor="ctr"/>
          <a:lstStyle/>
          <a:p>
            <a:pPr indent="0" marL="0">
              <a:buNone/>
            </a:pPr>
            <a:r>
              <a:rPr lang="en-US" sz="1700" b="1" dirty="0">
                <a:solidFill>
                  <a:schemeClr val="tx2"/>
                </a:solidFill>
              </a:rPr>
              <a:t>Geography</a:t>
            </a:r>
            <a:endParaRPr lang="en-US" sz="1700" dirty="0"/>
          </a:p>
        </p:txBody>
      </p:sp>
      <p:sp>
        <p:nvSpPr>
          <p:cNvPr id="13" name="Text 9"/>
          <p:cNvSpPr txBox="1"/>
          <p:nvPr/>
        </p:nvSpPr>
        <p:spPr>
          <a:xfrm>
            <a:off x="1554480" y="3383280"/>
            <a:ext cx="3931920" cy="411480"/>
          </a:xfrm>
          <a:prstGeom prst="rect">
            <a:avLst/>
          </a:prstGeom>
          <a:noFill/>
          <a:ln/>
        </p:spPr>
        <p:txBody>
          <a:bodyPr wrap="square" lIns="0" tIns="0" rIns="0" bIns="0" rtlCol="0" anchor="ctr"/>
          <a:lstStyle/>
          <a:p>
            <a:pPr indent="0" marL="0">
              <a:buNone/>
            </a:pPr>
            <a:r>
              <a:rPr lang="en-US" sz="1400" dirty="0">
                <a:solidFill>
                  <a:schemeClr val="tx1"/>
                </a:solidFill>
              </a:rPr>
              <a:t>Each trading country's AML risk</a:t>
            </a:r>
            <a:endParaRPr lang="en-US" sz="1400" dirty="0"/>
          </a:p>
        </p:txBody>
      </p:sp>
      <p:sp>
        <p:nvSpPr>
          <p:cNvPr id="14" name="Products card"/>
          <p:cNvSpPr/>
          <p:nvPr/>
        </p:nvSpPr>
        <p:spPr>
          <a:xfrm>
            <a:off x="548640" y="4023360"/>
            <a:ext cx="5120640" cy="960120"/>
          </a:xfrm>
          <a:prstGeom prst="roundRect">
            <a:avLst>
              <a:gd name="adj" fmla="val 7619"/>
            </a:avLst>
          </a:prstGeom>
          <a:solidFill>
            <a:schemeClr val="bg2"/>
          </a:solidFill>
          <a:ln w="12700">
            <a:solidFill>
              <a:schemeClr val="bg2"/>
            </a:solidFill>
            <a:prstDash val="solid"/>
          </a:ln>
        </p:spPr>
      </p:sp>
      <p:sp>
        <p:nvSpPr>
          <p:cNvPr id="15" name="Products circle"/>
          <p:cNvSpPr/>
          <p:nvPr/>
        </p:nvSpPr>
        <p:spPr>
          <a:xfrm>
            <a:off x="731520" y="4178808"/>
            <a:ext cx="640080" cy="640080"/>
          </a:xfrm>
          <a:prstGeom prst="ellipse">
            <a:avLst/>
          </a:prstGeom>
          <a:solidFill>
            <a:srgbClr val="912125"/>
          </a:solidFill>
          <a:ln w="12700">
            <a:solidFill>
              <a:srgbClr val="912125"/>
            </a:solidFill>
            <a:prstDash val="solid"/>
          </a:ln>
        </p:spPr>
      </p:sp>
      <p:pic>
        <p:nvPicPr>
          <p:cNvPr id="16" name="Products icon" descr="preencoded.png">    </p:cNvPr>
          <p:cNvPicPr>
            <a:picLocks noChangeAspect="1"/>
          </p:cNvPicPr>
          <p:nvPr/>
        </p:nvPicPr>
        <p:blipFill>
          <a:blip r:embed="rId3"/>
          <a:stretch>
            <a:fillRect/>
          </a:stretch>
        </p:blipFill>
        <p:spPr>
          <a:xfrm>
            <a:off x="891540" y="4338828"/>
            <a:ext cx="320040" cy="320040"/>
          </a:xfrm>
          <a:prstGeom prst="rect">
            <a:avLst/>
          </a:prstGeom>
        </p:spPr>
      </p:pic>
      <p:sp>
        <p:nvSpPr>
          <p:cNvPr id="17" name="Text 12"/>
          <p:cNvSpPr txBox="1"/>
          <p:nvPr/>
        </p:nvSpPr>
        <p:spPr>
          <a:xfrm>
            <a:off x="1554480" y="4133088"/>
            <a:ext cx="3931920" cy="347472"/>
          </a:xfrm>
          <a:prstGeom prst="rect">
            <a:avLst/>
          </a:prstGeom>
          <a:noFill/>
          <a:ln/>
        </p:spPr>
        <p:txBody>
          <a:bodyPr wrap="square" lIns="0" tIns="0" rIns="0" bIns="0" rtlCol="0" anchor="ctr"/>
          <a:lstStyle/>
          <a:p>
            <a:pPr indent="0" marL="0">
              <a:buNone/>
            </a:pPr>
            <a:r>
              <a:rPr lang="en-US" sz="1700" b="1" dirty="0">
                <a:solidFill>
                  <a:schemeClr val="tx2"/>
                </a:solidFill>
              </a:rPr>
              <a:t>Products</a:t>
            </a:r>
            <a:endParaRPr lang="en-US" sz="1700" dirty="0"/>
          </a:p>
        </p:txBody>
      </p:sp>
      <p:sp>
        <p:nvSpPr>
          <p:cNvPr id="18" name="Text 13"/>
          <p:cNvSpPr txBox="1"/>
          <p:nvPr/>
        </p:nvSpPr>
        <p:spPr>
          <a:xfrm>
            <a:off x="1554480" y="4480560"/>
            <a:ext cx="3931920" cy="411480"/>
          </a:xfrm>
          <a:prstGeom prst="rect">
            <a:avLst/>
          </a:prstGeom>
          <a:noFill/>
          <a:ln/>
        </p:spPr>
        <p:txBody>
          <a:bodyPr wrap="square" lIns="0" tIns="0" rIns="0" bIns="0" rtlCol="0" anchor="ctr"/>
          <a:lstStyle/>
          <a:p>
            <a:pPr indent="0" marL="0">
              <a:buNone/>
            </a:pPr>
            <a:r>
              <a:rPr lang="en-US" sz="1400" dirty="0">
                <a:solidFill>
                  <a:schemeClr val="tx1"/>
                </a:solidFill>
              </a:rPr>
              <a:t>Food grain to dual-use and defence goods</a:t>
            </a:r>
            <a:endParaRPr lang="en-US" sz="1400" dirty="0"/>
          </a:p>
        </p:txBody>
      </p:sp>
      <p:sp>
        <p:nvSpPr>
          <p:cNvPr id="19" name="Transaction trend card"/>
          <p:cNvSpPr/>
          <p:nvPr/>
        </p:nvSpPr>
        <p:spPr>
          <a:xfrm>
            <a:off x="548640" y="5120640"/>
            <a:ext cx="5120640" cy="960120"/>
          </a:xfrm>
          <a:prstGeom prst="roundRect">
            <a:avLst>
              <a:gd name="adj" fmla="val 7619"/>
            </a:avLst>
          </a:prstGeom>
          <a:solidFill>
            <a:schemeClr val="bg2"/>
          </a:solidFill>
          <a:ln w="12700">
            <a:solidFill>
              <a:schemeClr val="bg2"/>
            </a:solidFill>
            <a:prstDash val="solid"/>
          </a:ln>
        </p:spPr>
      </p:sp>
      <p:sp>
        <p:nvSpPr>
          <p:cNvPr id="20" name="Transaction trend circle"/>
          <p:cNvSpPr/>
          <p:nvPr/>
        </p:nvSpPr>
        <p:spPr>
          <a:xfrm>
            <a:off x="731520" y="5276088"/>
            <a:ext cx="640080" cy="640080"/>
          </a:xfrm>
          <a:prstGeom prst="ellipse">
            <a:avLst/>
          </a:prstGeom>
          <a:solidFill>
            <a:srgbClr val="912125"/>
          </a:solidFill>
          <a:ln w="12700">
            <a:solidFill>
              <a:srgbClr val="912125"/>
            </a:solidFill>
            <a:prstDash val="solid"/>
          </a:ln>
        </p:spPr>
      </p:sp>
      <p:pic>
        <p:nvPicPr>
          <p:cNvPr id="21" name="Transaction trend icon" descr="preencoded.png">    </p:cNvPr>
          <p:cNvPicPr>
            <a:picLocks noChangeAspect="1"/>
          </p:cNvPicPr>
          <p:nvPr/>
        </p:nvPicPr>
        <p:blipFill>
          <a:blip r:embed="rId4"/>
          <a:stretch>
            <a:fillRect/>
          </a:stretch>
        </p:blipFill>
        <p:spPr>
          <a:xfrm>
            <a:off x="891540" y="5436108"/>
            <a:ext cx="320040" cy="320040"/>
          </a:xfrm>
          <a:prstGeom prst="rect">
            <a:avLst/>
          </a:prstGeom>
        </p:spPr>
      </p:pic>
      <p:sp>
        <p:nvSpPr>
          <p:cNvPr id="22" name="Text 16"/>
          <p:cNvSpPr txBox="1"/>
          <p:nvPr/>
        </p:nvSpPr>
        <p:spPr>
          <a:xfrm>
            <a:off x="1554480" y="5230368"/>
            <a:ext cx="3931920" cy="347472"/>
          </a:xfrm>
          <a:prstGeom prst="rect">
            <a:avLst/>
          </a:prstGeom>
          <a:noFill/>
          <a:ln/>
        </p:spPr>
        <p:txBody>
          <a:bodyPr wrap="square" lIns="0" tIns="0" rIns="0" bIns="0" rtlCol="0" anchor="ctr"/>
          <a:lstStyle/>
          <a:p>
            <a:pPr indent="0" marL="0">
              <a:buNone/>
            </a:pPr>
            <a:r>
              <a:rPr lang="en-US" sz="1700" b="1" dirty="0">
                <a:solidFill>
                  <a:schemeClr val="tx2"/>
                </a:solidFill>
              </a:rPr>
              <a:t>Transaction trend</a:t>
            </a:r>
            <a:endParaRPr lang="en-US" sz="1700" dirty="0"/>
          </a:p>
        </p:txBody>
      </p:sp>
      <p:sp>
        <p:nvSpPr>
          <p:cNvPr id="23" name="Text 17"/>
          <p:cNvSpPr txBox="1"/>
          <p:nvPr/>
        </p:nvSpPr>
        <p:spPr>
          <a:xfrm>
            <a:off x="1554480" y="5577840"/>
            <a:ext cx="3931920" cy="411480"/>
          </a:xfrm>
          <a:prstGeom prst="rect">
            <a:avLst/>
          </a:prstGeom>
          <a:noFill/>
          <a:ln/>
        </p:spPr>
        <p:txBody>
          <a:bodyPr wrap="square" lIns="0" tIns="0" rIns="0" bIns="0" rtlCol="0" anchor="ctr"/>
          <a:lstStyle/>
          <a:p>
            <a:pPr indent="0" marL="0">
              <a:buNone/>
            </a:pPr>
            <a:r>
              <a:rPr lang="en-US" sz="1400" dirty="0">
                <a:solidFill>
                  <a:schemeClr val="tx1"/>
                </a:solidFill>
              </a:rPr>
              <a:t>Value, volume, alerts raised, STRs filed</a:t>
            </a:r>
            <a:endParaRPr lang="en-US" sz="1400" dirty="0"/>
          </a:p>
        </p:txBody>
      </p:sp>
      <p:sp>
        <p:nvSpPr>
          <p:cNvPr id="24" name="Text 18"/>
          <p:cNvSpPr txBox="1"/>
          <p:nvPr/>
        </p:nvSpPr>
        <p:spPr>
          <a:xfrm>
            <a:off x="6172200" y="1325880"/>
            <a:ext cx="5470855" cy="365760"/>
          </a:xfrm>
          <a:prstGeom prst="rect">
            <a:avLst/>
          </a:prstGeom>
          <a:noFill/>
          <a:ln/>
        </p:spPr>
        <p:txBody>
          <a:bodyPr wrap="square" lIns="0" tIns="0" rIns="0" bIns="0" rtlCol="0" anchor="ctr"/>
          <a:lstStyle/>
          <a:p>
            <a:pPr indent="0" marL="0">
              <a:buNone/>
            </a:pPr>
            <a:r>
              <a:rPr lang="en-US" sz="1600" b="1" dirty="0">
                <a:solidFill>
                  <a:schemeClr val="accent1"/>
                </a:solidFill>
              </a:rPr>
              <a:t>What the score triggers</a:t>
            </a:r>
            <a:endParaRPr lang="en-US" sz="1600" dirty="0"/>
          </a:p>
        </p:txBody>
      </p:sp>
      <p:sp>
        <p:nvSpPr>
          <p:cNvPr id="25" name="HIGH band"/>
          <p:cNvSpPr/>
          <p:nvPr/>
        </p:nvSpPr>
        <p:spPr>
          <a:xfrm>
            <a:off x="6172200" y="1828800"/>
            <a:ext cx="1600200" cy="1280160"/>
          </a:xfrm>
          <a:prstGeom prst="roundRect">
            <a:avLst>
              <a:gd name="adj" fmla="val 5714"/>
            </a:avLst>
          </a:prstGeom>
          <a:solidFill>
            <a:srgbClr val="B83A2B"/>
          </a:solidFill>
          <a:ln w="12700">
            <a:solidFill>
              <a:srgbClr val="B83A2B"/>
            </a:solidFill>
            <a:prstDash val="solid"/>
          </a:ln>
        </p:spPr>
      </p:sp>
      <p:sp>
        <p:nvSpPr>
          <p:cNvPr id="26" name="Text 20"/>
          <p:cNvSpPr txBox="1"/>
          <p:nvPr/>
        </p:nvSpPr>
        <p:spPr>
          <a:xfrm>
            <a:off x="6172200" y="2057400"/>
            <a:ext cx="1600200" cy="411480"/>
          </a:xfrm>
          <a:prstGeom prst="rect">
            <a:avLst/>
          </a:prstGeom>
          <a:noFill/>
          <a:ln/>
        </p:spPr>
        <p:txBody>
          <a:bodyPr wrap="square" lIns="0" tIns="0" rIns="0" bIns="0" rtlCol="0" anchor="ctr"/>
          <a:lstStyle/>
          <a:p>
            <a:pPr algn="ctr" indent="0" marL="0">
              <a:buNone/>
            </a:pPr>
            <a:r>
              <a:rPr lang="en-US" sz="1800" b="1" dirty="0">
                <a:solidFill>
                  <a:schemeClr val="bg1"/>
                </a:solidFill>
              </a:rPr>
              <a:t>HIGH</a:t>
            </a:r>
            <a:endParaRPr lang="en-US" sz="1800" dirty="0"/>
          </a:p>
        </p:txBody>
      </p:sp>
      <p:sp>
        <p:nvSpPr>
          <p:cNvPr id="27" name="Text 21"/>
          <p:cNvSpPr txBox="1"/>
          <p:nvPr/>
        </p:nvSpPr>
        <p:spPr>
          <a:xfrm>
            <a:off x="6263640" y="2487168"/>
            <a:ext cx="1417320" cy="457200"/>
          </a:xfrm>
          <a:prstGeom prst="rect">
            <a:avLst/>
          </a:prstGeom>
          <a:noFill/>
          <a:ln/>
        </p:spPr>
        <p:txBody>
          <a:bodyPr wrap="square" lIns="0" tIns="0" rIns="0" bIns="0" rtlCol="0" anchor="t"/>
          <a:lstStyle/>
          <a:p>
            <a:pPr algn="ctr" indent="0" marL="0">
              <a:buNone/>
            </a:pPr>
            <a:r>
              <a:rPr lang="en-US" sz="1200" dirty="0">
                <a:solidFill>
                  <a:schemeClr val="bg1"/>
                </a:solidFill>
              </a:rPr>
              <a:t>75% and above</a:t>
            </a:r>
            <a:endParaRPr lang="en-US" sz="1200" dirty="0"/>
          </a:p>
        </p:txBody>
      </p:sp>
      <p:sp>
        <p:nvSpPr>
          <p:cNvPr id="28" name="HIGH detail"/>
          <p:cNvSpPr/>
          <p:nvPr/>
        </p:nvSpPr>
        <p:spPr>
          <a:xfrm>
            <a:off x="7909560" y="1828800"/>
            <a:ext cx="3733495" cy="1280160"/>
          </a:xfrm>
          <a:prstGeom prst="roundRect">
            <a:avLst>
              <a:gd name="adj" fmla="val 5714"/>
            </a:avLst>
          </a:prstGeom>
          <a:solidFill>
            <a:schemeClr val="bg2"/>
          </a:solidFill>
          <a:ln w="12700">
            <a:solidFill>
              <a:schemeClr val="bg2"/>
            </a:solidFill>
            <a:prstDash val="solid"/>
          </a:ln>
        </p:spPr>
      </p:sp>
      <p:sp>
        <p:nvSpPr>
          <p:cNvPr id="29" name="Text 23"/>
          <p:cNvSpPr txBox="1"/>
          <p:nvPr/>
        </p:nvSpPr>
        <p:spPr>
          <a:xfrm>
            <a:off x="8138160" y="1965960"/>
            <a:ext cx="3322015" cy="685800"/>
          </a:xfrm>
          <a:prstGeom prst="rect">
            <a:avLst/>
          </a:prstGeom>
          <a:noFill/>
          <a:ln/>
        </p:spPr>
        <p:txBody>
          <a:bodyPr wrap="square" lIns="0" tIns="0" rIns="0" bIns="0" rtlCol="0" anchor="t"/>
          <a:lstStyle/>
          <a:p>
            <a:pPr indent="0" marL="0">
              <a:buNone/>
            </a:pPr>
            <a:r>
              <a:rPr lang="en-US" sz="1500" dirty="0">
                <a:solidFill>
                  <a:schemeClr val="tx1"/>
                </a:solidFill>
              </a:rPr>
              <a:t>Escalate to Level 3 for EDD; reject if outside risk appetite</a:t>
            </a:r>
            <a:endParaRPr lang="en-US" sz="1500" dirty="0"/>
          </a:p>
        </p:txBody>
      </p:sp>
      <p:sp>
        <p:nvSpPr>
          <p:cNvPr id="30" name="Text 24"/>
          <p:cNvSpPr txBox="1"/>
          <p:nvPr/>
        </p:nvSpPr>
        <p:spPr>
          <a:xfrm>
            <a:off x="8138160" y="2670048"/>
            <a:ext cx="3322015" cy="320040"/>
          </a:xfrm>
          <a:prstGeom prst="rect">
            <a:avLst/>
          </a:prstGeom>
          <a:noFill/>
          <a:ln/>
        </p:spPr>
        <p:txBody>
          <a:bodyPr wrap="square" lIns="0" tIns="0" rIns="0" bIns="0" rtlCol="0" anchor="ctr"/>
          <a:lstStyle/>
          <a:p>
            <a:pPr indent="0" marL="0">
              <a:buNone/>
            </a:pPr>
            <a:r>
              <a:rPr lang="en-US" sz="1400" b="1" dirty="0">
                <a:solidFill>
                  <a:schemeClr val="tx2"/>
                </a:solidFill>
              </a:rPr>
              <a:t>Review every year</a:t>
            </a:r>
            <a:endParaRPr lang="en-US" sz="1400" dirty="0"/>
          </a:p>
        </p:txBody>
      </p:sp>
      <p:sp>
        <p:nvSpPr>
          <p:cNvPr id="31" name="MEDIUM band"/>
          <p:cNvSpPr/>
          <p:nvPr/>
        </p:nvSpPr>
        <p:spPr>
          <a:xfrm>
            <a:off x="6172200" y="3291840"/>
            <a:ext cx="1600200" cy="1280160"/>
          </a:xfrm>
          <a:prstGeom prst="roundRect">
            <a:avLst>
              <a:gd name="adj" fmla="val 5714"/>
            </a:avLst>
          </a:prstGeom>
          <a:solidFill>
            <a:srgbClr val="D4911E"/>
          </a:solidFill>
          <a:ln w="12700">
            <a:solidFill>
              <a:srgbClr val="D4911E"/>
            </a:solidFill>
            <a:prstDash val="solid"/>
          </a:ln>
        </p:spPr>
      </p:sp>
      <p:sp>
        <p:nvSpPr>
          <p:cNvPr id="32" name="Text 26"/>
          <p:cNvSpPr txBox="1"/>
          <p:nvPr/>
        </p:nvSpPr>
        <p:spPr>
          <a:xfrm>
            <a:off x="6172200" y="3520440"/>
            <a:ext cx="1600200" cy="411480"/>
          </a:xfrm>
          <a:prstGeom prst="rect">
            <a:avLst/>
          </a:prstGeom>
          <a:noFill/>
          <a:ln/>
        </p:spPr>
        <p:txBody>
          <a:bodyPr wrap="square" lIns="0" tIns="0" rIns="0" bIns="0" rtlCol="0" anchor="ctr"/>
          <a:lstStyle/>
          <a:p>
            <a:pPr algn="ctr" indent="0" marL="0">
              <a:buNone/>
            </a:pPr>
            <a:r>
              <a:rPr lang="en-US" sz="1800" b="1" dirty="0">
                <a:solidFill>
                  <a:schemeClr val="bg1"/>
                </a:solidFill>
              </a:rPr>
              <a:t>MEDIUM</a:t>
            </a:r>
            <a:endParaRPr lang="en-US" sz="1800" dirty="0"/>
          </a:p>
        </p:txBody>
      </p:sp>
      <p:sp>
        <p:nvSpPr>
          <p:cNvPr id="33" name="Text 27"/>
          <p:cNvSpPr txBox="1"/>
          <p:nvPr/>
        </p:nvSpPr>
        <p:spPr>
          <a:xfrm>
            <a:off x="6263640" y="3950208"/>
            <a:ext cx="1417320" cy="457200"/>
          </a:xfrm>
          <a:prstGeom prst="rect">
            <a:avLst/>
          </a:prstGeom>
          <a:noFill/>
          <a:ln/>
        </p:spPr>
        <p:txBody>
          <a:bodyPr wrap="square" lIns="0" tIns="0" rIns="0" bIns="0" rtlCol="0" anchor="t"/>
          <a:lstStyle/>
          <a:p>
            <a:pPr algn="ctr" indent="0" marL="0">
              <a:buNone/>
            </a:pPr>
            <a:r>
              <a:rPr lang="en-US" sz="1200" dirty="0">
                <a:solidFill>
                  <a:schemeClr val="bg1"/>
                </a:solidFill>
              </a:rPr>
              <a:t>50% to below 75%</a:t>
            </a:r>
            <a:endParaRPr lang="en-US" sz="1200" dirty="0"/>
          </a:p>
        </p:txBody>
      </p:sp>
      <p:sp>
        <p:nvSpPr>
          <p:cNvPr id="34" name="MEDIUM detail"/>
          <p:cNvSpPr/>
          <p:nvPr/>
        </p:nvSpPr>
        <p:spPr>
          <a:xfrm>
            <a:off x="7909560" y="3291840"/>
            <a:ext cx="3733495" cy="1280160"/>
          </a:xfrm>
          <a:prstGeom prst="roundRect">
            <a:avLst>
              <a:gd name="adj" fmla="val 5714"/>
            </a:avLst>
          </a:prstGeom>
          <a:solidFill>
            <a:schemeClr val="bg2"/>
          </a:solidFill>
          <a:ln w="12700">
            <a:solidFill>
              <a:schemeClr val="bg2"/>
            </a:solidFill>
            <a:prstDash val="solid"/>
          </a:ln>
        </p:spPr>
      </p:sp>
      <p:sp>
        <p:nvSpPr>
          <p:cNvPr id="35" name="Text 29"/>
          <p:cNvSpPr txBox="1"/>
          <p:nvPr/>
        </p:nvSpPr>
        <p:spPr>
          <a:xfrm>
            <a:off x="8138160" y="3429000"/>
            <a:ext cx="3322015" cy="685800"/>
          </a:xfrm>
          <a:prstGeom prst="rect">
            <a:avLst/>
          </a:prstGeom>
          <a:noFill/>
          <a:ln/>
        </p:spPr>
        <p:txBody>
          <a:bodyPr wrap="square" lIns="0" tIns="0" rIns="0" bIns="0" rtlCol="0" anchor="t"/>
          <a:lstStyle/>
          <a:p>
            <a:pPr indent="0" marL="0">
              <a:buNone/>
            </a:pPr>
            <a:r>
              <a:rPr lang="en-US" sz="1500" dirty="0">
                <a:solidFill>
                  <a:schemeClr val="tx1"/>
                </a:solidFill>
              </a:rPr>
              <a:t>Standard CDD before trading</a:t>
            </a:r>
            <a:endParaRPr lang="en-US" sz="1500" dirty="0"/>
          </a:p>
        </p:txBody>
      </p:sp>
      <p:sp>
        <p:nvSpPr>
          <p:cNvPr id="36" name="Text 30"/>
          <p:cNvSpPr txBox="1"/>
          <p:nvPr/>
        </p:nvSpPr>
        <p:spPr>
          <a:xfrm>
            <a:off x="8138160" y="4133088"/>
            <a:ext cx="3322015" cy="320040"/>
          </a:xfrm>
          <a:prstGeom prst="rect">
            <a:avLst/>
          </a:prstGeom>
          <a:noFill/>
          <a:ln/>
        </p:spPr>
        <p:txBody>
          <a:bodyPr wrap="square" lIns="0" tIns="0" rIns="0" bIns="0" rtlCol="0" anchor="ctr"/>
          <a:lstStyle/>
          <a:p>
            <a:pPr indent="0" marL="0">
              <a:buNone/>
            </a:pPr>
            <a:r>
              <a:rPr lang="en-US" sz="1400" b="1" dirty="0">
                <a:solidFill>
                  <a:schemeClr val="tx2"/>
                </a:solidFill>
              </a:rPr>
              <a:t>Review every 3 years</a:t>
            </a:r>
            <a:endParaRPr lang="en-US" sz="1400" dirty="0"/>
          </a:p>
        </p:txBody>
      </p:sp>
      <p:sp>
        <p:nvSpPr>
          <p:cNvPr id="37" name="LOW band"/>
          <p:cNvSpPr/>
          <p:nvPr/>
        </p:nvSpPr>
        <p:spPr>
          <a:xfrm>
            <a:off x="6172200" y="4754880"/>
            <a:ext cx="1600200" cy="1280160"/>
          </a:xfrm>
          <a:prstGeom prst="roundRect">
            <a:avLst>
              <a:gd name="adj" fmla="val 5714"/>
            </a:avLst>
          </a:prstGeom>
          <a:solidFill>
            <a:srgbClr val="3F7A5A"/>
          </a:solidFill>
          <a:ln w="12700">
            <a:solidFill>
              <a:srgbClr val="3F7A5A"/>
            </a:solidFill>
            <a:prstDash val="solid"/>
          </a:ln>
        </p:spPr>
      </p:sp>
      <p:sp>
        <p:nvSpPr>
          <p:cNvPr id="38" name="Text 32"/>
          <p:cNvSpPr txBox="1"/>
          <p:nvPr/>
        </p:nvSpPr>
        <p:spPr>
          <a:xfrm>
            <a:off x="6172200" y="4983480"/>
            <a:ext cx="1600200" cy="411480"/>
          </a:xfrm>
          <a:prstGeom prst="rect">
            <a:avLst/>
          </a:prstGeom>
          <a:noFill/>
          <a:ln/>
        </p:spPr>
        <p:txBody>
          <a:bodyPr wrap="square" lIns="0" tIns="0" rIns="0" bIns="0" rtlCol="0" anchor="ctr"/>
          <a:lstStyle/>
          <a:p>
            <a:pPr algn="ctr" indent="0" marL="0">
              <a:buNone/>
            </a:pPr>
            <a:r>
              <a:rPr lang="en-US" sz="1800" b="1" dirty="0">
                <a:solidFill>
                  <a:schemeClr val="bg1"/>
                </a:solidFill>
              </a:rPr>
              <a:t>LOW</a:t>
            </a:r>
            <a:endParaRPr lang="en-US" sz="1800" dirty="0"/>
          </a:p>
        </p:txBody>
      </p:sp>
      <p:sp>
        <p:nvSpPr>
          <p:cNvPr id="39" name="Text 33"/>
          <p:cNvSpPr txBox="1"/>
          <p:nvPr/>
        </p:nvSpPr>
        <p:spPr>
          <a:xfrm>
            <a:off x="6263640" y="5413248"/>
            <a:ext cx="1417320" cy="457200"/>
          </a:xfrm>
          <a:prstGeom prst="rect">
            <a:avLst/>
          </a:prstGeom>
          <a:noFill/>
          <a:ln/>
        </p:spPr>
        <p:txBody>
          <a:bodyPr wrap="square" lIns="0" tIns="0" rIns="0" bIns="0" rtlCol="0" anchor="t"/>
          <a:lstStyle/>
          <a:p>
            <a:pPr algn="ctr" indent="0" marL="0">
              <a:buNone/>
            </a:pPr>
            <a:r>
              <a:rPr lang="en-US" sz="1200" dirty="0">
                <a:solidFill>
                  <a:schemeClr val="bg1"/>
                </a:solidFill>
              </a:rPr>
              <a:t>Below 50%</a:t>
            </a:r>
            <a:endParaRPr lang="en-US" sz="1200" dirty="0"/>
          </a:p>
        </p:txBody>
      </p:sp>
      <p:sp>
        <p:nvSpPr>
          <p:cNvPr id="40" name="LOW detail"/>
          <p:cNvSpPr/>
          <p:nvPr/>
        </p:nvSpPr>
        <p:spPr>
          <a:xfrm>
            <a:off x="7909560" y="4754880"/>
            <a:ext cx="3733495" cy="1280160"/>
          </a:xfrm>
          <a:prstGeom prst="roundRect">
            <a:avLst>
              <a:gd name="adj" fmla="val 5714"/>
            </a:avLst>
          </a:prstGeom>
          <a:solidFill>
            <a:schemeClr val="bg2"/>
          </a:solidFill>
          <a:ln w="12700">
            <a:solidFill>
              <a:schemeClr val="bg2"/>
            </a:solidFill>
            <a:prstDash val="solid"/>
          </a:ln>
        </p:spPr>
      </p:sp>
      <p:sp>
        <p:nvSpPr>
          <p:cNvPr id="41" name="Text 35"/>
          <p:cNvSpPr txBox="1"/>
          <p:nvPr/>
        </p:nvSpPr>
        <p:spPr>
          <a:xfrm>
            <a:off x="8138160" y="4892040"/>
            <a:ext cx="3322015" cy="685800"/>
          </a:xfrm>
          <a:prstGeom prst="rect">
            <a:avLst/>
          </a:prstGeom>
          <a:noFill/>
          <a:ln/>
        </p:spPr>
        <p:txBody>
          <a:bodyPr wrap="square" lIns="0" tIns="0" rIns="0" bIns="0" rtlCol="0" anchor="t"/>
          <a:lstStyle/>
          <a:p>
            <a:pPr indent="0" marL="0">
              <a:buNone/>
            </a:pPr>
            <a:r>
              <a:rPr lang="en-US" sz="1500" dirty="0">
                <a:solidFill>
                  <a:schemeClr val="tx1"/>
                </a:solidFill>
              </a:rPr>
              <a:t>Standard CDD before trading</a:t>
            </a:r>
            <a:endParaRPr lang="en-US" sz="1500" dirty="0"/>
          </a:p>
        </p:txBody>
      </p:sp>
      <p:sp>
        <p:nvSpPr>
          <p:cNvPr id="42" name="Text 36"/>
          <p:cNvSpPr txBox="1"/>
          <p:nvPr/>
        </p:nvSpPr>
        <p:spPr>
          <a:xfrm>
            <a:off x="8138160" y="5596128"/>
            <a:ext cx="3322015" cy="320040"/>
          </a:xfrm>
          <a:prstGeom prst="rect">
            <a:avLst/>
          </a:prstGeom>
          <a:noFill/>
          <a:ln/>
        </p:spPr>
        <p:txBody>
          <a:bodyPr wrap="square" lIns="0" tIns="0" rIns="0" bIns="0" rtlCol="0" anchor="ctr"/>
          <a:lstStyle/>
          <a:p>
            <a:pPr indent="0" marL="0">
              <a:buNone/>
            </a:pPr>
            <a:r>
              <a:rPr lang="en-US" sz="1400" b="1" dirty="0">
                <a:solidFill>
                  <a:schemeClr val="tx2"/>
                </a:solidFill>
              </a:rPr>
              <a:t>Review every 5 years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Three levels review every trade transaction</a:t>
            </a:r>
            <a:endParaRPr lang="en-US" sz="3200" dirty="0"/>
          </a:p>
        </p:txBody>
      </p:sp>
      <p:sp>
        <p:nvSpPr>
          <p:cNvPr id="3" name="Level 1 header"/>
          <p:cNvSpPr/>
          <p:nvPr/>
        </p:nvSpPr>
        <p:spPr>
          <a:xfrm>
            <a:off x="548640" y="1371600"/>
            <a:ext cx="2606040" cy="1051560"/>
          </a:xfrm>
          <a:prstGeom prst="roundRect">
            <a:avLst>
              <a:gd name="adj" fmla="val 6957"/>
            </a:avLst>
          </a:prstGeom>
          <a:solidFill>
            <a:schemeClr val="accent1"/>
          </a:solidFill>
          <a:ln w="12700">
            <a:solidFill>
              <a:schemeClr val="accent1"/>
            </a:solidFill>
            <a:prstDash val="solid"/>
          </a:ln>
        </p:spPr>
      </p:sp>
      <p:sp>
        <p:nvSpPr>
          <p:cNvPr id="4" name="Text 2"/>
          <p:cNvSpPr txBox="1"/>
          <p:nvPr/>
        </p:nvSpPr>
        <p:spPr>
          <a:xfrm>
            <a:off x="777240" y="1444752"/>
            <a:ext cx="214884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Level 1</a:t>
            </a:r>
            <a:endParaRPr lang="en-US" sz="2200" dirty="0"/>
          </a:p>
        </p:txBody>
      </p:sp>
      <p:sp>
        <p:nvSpPr>
          <p:cNvPr id="5" name="Text 3"/>
          <p:cNvSpPr txBox="1"/>
          <p:nvPr/>
        </p:nvSpPr>
        <p:spPr>
          <a:xfrm>
            <a:off x="777240" y="1901952"/>
            <a:ext cx="2148840" cy="411480"/>
          </a:xfrm>
          <a:prstGeom prst="rect">
            <a:avLst/>
          </a:prstGeom>
          <a:noFill/>
          <a:ln/>
        </p:spPr>
        <p:txBody>
          <a:bodyPr wrap="square" lIns="0" tIns="0" rIns="0" bIns="0" rtlCol="0" anchor="ctr"/>
          <a:lstStyle/>
          <a:p>
            <a:pPr indent="0" marL="0">
              <a:buNone/>
            </a:pPr>
            <a:r>
              <a:rPr lang="en-US" sz="1500" dirty="0">
                <a:solidFill>
                  <a:schemeClr val="bg1"/>
                </a:solidFill>
              </a:rPr>
              <a:t>Transaction processors</a:t>
            </a:r>
            <a:endParaRPr lang="en-US" sz="1500" dirty="0"/>
          </a:p>
        </p:txBody>
      </p:sp>
      <p:sp>
        <p:nvSpPr>
          <p:cNvPr id="6" name="Level 1 body"/>
          <p:cNvSpPr/>
          <p:nvPr/>
        </p:nvSpPr>
        <p:spPr>
          <a:xfrm>
            <a:off x="548640" y="2560320"/>
            <a:ext cx="2606040" cy="2743200"/>
          </a:xfrm>
          <a:prstGeom prst="roundRect">
            <a:avLst>
              <a:gd name="adj" fmla="val 2807"/>
            </a:avLst>
          </a:prstGeom>
          <a:solidFill>
            <a:schemeClr val="bg2"/>
          </a:solidFill>
          <a:ln w="12700">
            <a:solidFill>
              <a:schemeClr val="bg2"/>
            </a:solidFill>
            <a:prstDash val="solid"/>
          </a:ln>
        </p:spPr>
      </p:sp>
      <p:sp>
        <p:nvSpPr>
          <p:cNvPr id="7" name="Text 5"/>
          <p:cNvSpPr txBox="1"/>
          <p:nvPr/>
        </p:nvSpPr>
        <p:spPr>
          <a:xfrm>
            <a:off x="777240" y="2697480"/>
            <a:ext cx="2148840" cy="320040"/>
          </a:xfrm>
          <a:prstGeom prst="rect">
            <a:avLst/>
          </a:prstGeom>
          <a:noFill/>
          <a:ln/>
        </p:spPr>
        <p:txBody>
          <a:bodyPr wrap="square" lIns="0" tIns="0" rIns="0" bIns="0" rtlCol="0" anchor="ctr"/>
          <a:lstStyle/>
          <a:p>
            <a:pPr indent="0" marL="0">
              <a:buNone/>
            </a:pPr>
            <a:r>
              <a:rPr lang="en-US" sz="1300" i="1" dirty="0">
                <a:solidFill>
                  <a:schemeClr val="tx2"/>
                </a:solidFill>
              </a:rPr>
              <a:t>Maker, checker, authoriser</a:t>
            </a:r>
            <a:endParaRPr lang="en-US" sz="1300" dirty="0"/>
          </a:p>
        </p:txBody>
      </p:sp>
      <p:sp>
        <p:nvSpPr>
          <p:cNvPr id="8" name="Text 6"/>
          <p:cNvSpPr txBox="1"/>
          <p:nvPr/>
        </p:nvSpPr>
        <p:spPr>
          <a:xfrm>
            <a:off x="777240" y="3108960"/>
            <a:ext cx="2194560"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Check KYC and TTP are current</a:t>
            </a:r>
            <a:endParaRPr lang="en-US" sz="1500" dirty="0"/>
          </a:p>
          <a:p>
            <a:pPr marL="177800" indent="-177800">
              <a:spcAft>
                <a:spcPts val="500"/>
              </a:spcAft>
              <a:buSzPct val="100000"/>
              <a:buChar char="•"/>
            </a:pPr>
            <a:r>
              <a:rPr lang="en-US" sz="1500" dirty="0">
                <a:solidFill>
                  <a:schemeClr val="tx1"/>
                </a:solidFill>
              </a:rPr>
              <a:t>Run alert analysis and sanction screening</a:t>
            </a:r>
            <a:endParaRPr lang="en-US" sz="1500" dirty="0"/>
          </a:p>
          <a:p>
            <a:pPr marL="177800" indent="-177800">
              <a:spcAft>
                <a:spcPts val="500"/>
              </a:spcAft>
              <a:buSzPct val="100000"/>
              <a:buChar char="•"/>
            </a:pPr>
            <a:r>
              <a:rPr lang="en-US" sz="1500" dirty="0">
                <a:solidFill>
                  <a:schemeClr val="tx1"/>
                </a:solidFill>
              </a:rPr>
              <a:t>Clear false matches, escalate the rest</a:t>
            </a:r>
            <a:endParaRPr lang="en-US" sz="1500" dirty="0"/>
          </a:p>
        </p:txBody>
      </p:sp>
      <p:sp>
        <p:nvSpPr>
          <p:cNvPr id="9" name="Arrow 1"/>
          <p:cNvSpPr/>
          <p:nvPr/>
        </p:nvSpPr>
        <p:spPr>
          <a:xfrm>
            <a:off x="3200400" y="1719072"/>
            <a:ext cx="365760" cy="365760"/>
          </a:xfrm>
          <a:prstGeom prst="rightArrow">
            <a:avLst/>
          </a:prstGeom>
          <a:solidFill>
            <a:schemeClr val="accent6"/>
          </a:solidFill>
          <a:ln w="12700">
            <a:solidFill>
              <a:schemeClr val="accent6"/>
            </a:solidFill>
            <a:prstDash val="solid"/>
          </a:ln>
        </p:spPr>
      </p:sp>
      <p:sp>
        <p:nvSpPr>
          <p:cNvPr id="10" name="Level 2 header"/>
          <p:cNvSpPr/>
          <p:nvPr/>
        </p:nvSpPr>
        <p:spPr>
          <a:xfrm>
            <a:off x="3611880" y="1371600"/>
            <a:ext cx="2606040" cy="1051560"/>
          </a:xfrm>
          <a:prstGeom prst="roundRect">
            <a:avLst>
              <a:gd name="adj" fmla="val 6957"/>
            </a:avLst>
          </a:prstGeom>
          <a:solidFill>
            <a:schemeClr val="accent2"/>
          </a:solidFill>
          <a:ln w="12700">
            <a:solidFill>
              <a:schemeClr val="accent2"/>
            </a:solidFill>
            <a:prstDash val="solid"/>
          </a:ln>
        </p:spPr>
      </p:sp>
      <p:sp>
        <p:nvSpPr>
          <p:cNvPr id="11" name="Text 9"/>
          <p:cNvSpPr txBox="1"/>
          <p:nvPr/>
        </p:nvSpPr>
        <p:spPr>
          <a:xfrm>
            <a:off x="3840480" y="1444752"/>
            <a:ext cx="214884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Level 2</a:t>
            </a:r>
            <a:endParaRPr lang="en-US" sz="2200" dirty="0"/>
          </a:p>
        </p:txBody>
      </p:sp>
      <p:sp>
        <p:nvSpPr>
          <p:cNvPr id="12" name="Text 10"/>
          <p:cNvSpPr txBox="1"/>
          <p:nvPr/>
        </p:nvSpPr>
        <p:spPr>
          <a:xfrm>
            <a:off x="3840480" y="1901952"/>
            <a:ext cx="2148840" cy="411480"/>
          </a:xfrm>
          <a:prstGeom prst="rect">
            <a:avLst/>
          </a:prstGeom>
          <a:noFill/>
          <a:ln/>
        </p:spPr>
        <p:txBody>
          <a:bodyPr wrap="square" lIns="0" tIns="0" rIns="0" bIns="0" rtlCol="0" anchor="ctr"/>
          <a:lstStyle/>
          <a:p>
            <a:pPr indent="0" marL="0">
              <a:buNone/>
            </a:pPr>
            <a:r>
              <a:rPr lang="en-US" sz="1500" dirty="0">
                <a:solidFill>
                  <a:schemeClr val="bg1"/>
                </a:solidFill>
              </a:rPr>
              <a:t>Trade AML specialists</a:t>
            </a:r>
            <a:endParaRPr lang="en-US" sz="1500" dirty="0"/>
          </a:p>
        </p:txBody>
      </p:sp>
      <p:sp>
        <p:nvSpPr>
          <p:cNvPr id="13" name="Level 2 body"/>
          <p:cNvSpPr/>
          <p:nvPr/>
        </p:nvSpPr>
        <p:spPr>
          <a:xfrm>
            <a:off x="3611880" y="2560320"/>
            <a:ext cx="2606040" cy="2743200"/>
          </a:xfrm>
          <a:prstGeom prst="roundRect">
            <a:avLst>
              <a:gd name="adj" fmla="val 2807"/>
            </a:avLst>
          </a:prstGeom>
          <a:solidFill>
            <a:schemeClr val="bg2"/>
          </a:solidFill>
          <a:ln w="12700">
            <a:solidFill>
              <a:schemeClr val="bg2"/>
            </a:solidFill>
            <a:prstDash val="solid"/>
          </a:ln>
        </p:spPr>
      </p:sp>
      <p:sp>
        <p:nvSpPr>
          <p:cNvPr id="14" name="Text 12"/>
          <p:cNvSpPr txBox="1"/>
          <p:nvPr/>
        </p:nvSpPr>
        <p:spPr>
          <a:xfrm>
            <a:off x="3840480" y="2697480"/>
            <a:ext cx="2148840" cy="320040"/>
          </a:xfrm>
          <a:prstGeom prst="rect">
            <a:avLst/>
          </a:prstGeom>
          <a:noFill/>
          <a:ln/>
        </p:spPr>
        <p:txBody>
          <a:bodyPr wrap="square" lIns="0" tIns="0" rIns="0" bIns="0" rtlCol="0" anchor="ctr"/>
          <a:lstStyle/>
          <a:p>
            <a:pPr indent="0" marL="0">
              <a:buNone/>
            </a:pPr>
            <a:r>
              <a:rPr lang="en-US" sz="1300" i="1" dirty="0">
                <a:solidFill>
                  <a:schemeClr val="tx2"/>
                </a:solidFill>
              </a:rPr>
              <a:t>Experienced trade officials</a:t>
            </a:r>
            <a:endParaRPr lang="en-US" sz="1300" dirty="0"/>
          </a:p>
        </p:txBody>
      </p:sp>
      <p:sp>
        <p:nvSpPr>
          <p:cNvPr id="15" name="Text 13"/>
          <p:cNvSpPr txBox="1"/>
          <p:nvPr/>
        </p:nvSpPr>
        <p:spPr>
          <a:xfrm>
            <a:off x="3840480" y="3108960"/>
            <a:ext cx="2194560"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Investigate escalated alerts</a:t>
            </a:r>
            <a:endParaRPr lang="en-US" sz="1500" dirty="0"/>
          </a:p>
          <a:p>
            <a:pPr marL="177800" indent="-177800">
              <a:spcAft>
                <a:spcPts val="500"/>
              </a:spcAft>
              <a:buSzPct val="100000"/>
              <a:buChar char="•"/>
            </a:pPr>
            <a:r>
              <a:rPr lang="en-US" sz="1500" dirty="0">
                <a:solidFill>
                  <a:schemeClr val="tx1"/>
                </a:solidFill>
              </a:rPr>
              <a:t>Check against the customer's TTP</a:t>
            </a:r>
            <a:endParaRPr lang="en-US" sz="1500" dirty="0"/>
          </a:p>
          <a:p>
            <a:pPr marL="177800" indent="-177800">
              <a:spcAft>
                <a:spcPts val="500"/>
              </a:spcAft>
              <a:buSzPct val="100000"/>
              <a:buChar char="•"/>
            </a:pPr>
            <a:r>
              <a:rPr lang="en-US" sz="1500" dirty="0">
                <a:solidFill>
                  <a:schemeClr val="tx1"/>
                </a:solidFill>
              </a:rPr>
              <a:t>Approve with reasons or escalate</a:t>
            </a:r>
            <a:endParaRPr lang="en-US" sz="1500" dirty="0"/>
          </a:p>
        </p:txBody>
      </p:sp>
      <p:sp>
        <p:nvSpPr>
          <p:cNvPr id="16" name="Arrow 2"/>
          <p:cNvSpPr/>
          <p:nvPr/>
        </p:nvSpPr>
        <p:spPr>
          <a:xfrm>
            <a:off x="6263640" y="1719072"/>
            <a:ext cx="365760" cy="365760"/>
          </a:xfrm>
          <a:prstGeom prst="rightArrow">
            <a:avLst/>
          </a:prstGeom>
          <a:solidFill>
            <a:schemeClr val="accent6"/>
          </a:solidFill>
          <a:ln w="12700">
            <a:solidFill>
              <a:schemeClr val="accent6"/>
            </a:solidFill>
            <a:prstDash val="solid"/>
          </a:ln>
        </p:spPr>
      </p:sp>
      <p:sp>
        <p:nvSpPr>
          <p:cNvPr id="17" name="Level 3 header"/>
          <p:cNvSpPr/>
          <p:nvPr/>
        </p:nvSpPr>
        <p:spPr>
          <a:xfrm>
            <a:off x="6675120" y="1371600"/>
            <a:ext cx="2606040" cy="1051560"/>
          </a:xfrm>
          <a:prstGeom prst="roundRect">
            <a:avLst>
              <a:gd name="adj" fmla="val 6957"/>
            </a:avLst>
          </a:prstGeom>
          <a:solidFill>
            <a:schemeClr val="tx2"/>
          </a:solidFill>
          <a:ln w="12700">
            <a:solidFill>
              <a:schemeClr val="tx2"/>
            </a:solidFill>
            <a:prstDash val="solid"/>
          </a:ln>
        </p:spPr>
      </p:sp>
      <p:sp>
        <p:nvSpPr>
          <p:cNvPr id="18" name="Text 16"/>
          <p:cNvSpPr txBox="1"/>
          <p:nvPr/>
        </p:nvSpPr>
        <p:spPr>
          <a:xfrm>
            <a:off x="6903720" y="1444752"/>
            <a:ext cx="214884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Level 3</a:t>
            </a:r>
            <a:endParaRPr lang="en-US" sz="2200" dirty="0"/>
          </a:p>
        </p:txBody>
      </p:sp>
      <p:sp>
        <p:nvSpPr>
          <p:cNvPr id="19" name="Text 17"/>
          <p:cNvSpPr txBox="1"/>
          <p:nvPr/>
        </p:nvSpPr>
        <p:spPr>
          <a:xfrm>
            <a:off x="6903720" y="1901952"/>
            <a:ext cx="2148840" cy="411480"/>
          </a:xfrm>
          <a:prstGeom prst="rect">
            <a:avLst/>
          </a:prstGeom>
          <a:noFill/>
          <a:ln/>
        </p:spPr>
        <p:txBody>
          <a:bodyPr wrap="square" lIns="0" tIns="0" rIns="0" bIns="0" rtlCol="0" anchor="ctr"/>
          <a:lstStyle/>
          <a:p>
            <a:pPr indent="0" marL="0">
              <a:buNone/>
            </a:pPr>
            <a:r>
              <a:rPr lang="en-US" sz="1500" dirty="0">
                <a:solidFill>
                  <a:schemeClr val="bg1"/>
                </a:solidFill>
              </a:rPr>
              <a:t>DCAMLCO or CAMLCO nominee</a:t>
            </a:r>
            <a:endParaRPr lang="en-US" sz="1500" dirty="0"/>
          </a:p>
        </p:txBody>
      </p:sp>
      <p:sp>
        <p:nvSpPr>
          <p:cNvPr id="20" name="Level 3 body"/>
          <p:cNvSpPr/>
          <p:nvPr/>
        </p:nvSpPr>
        <p:spPr>
          <a:xfrm>
            <a:off x="6675120" y="2560320"/>
            <a:ext cx="2606040" cy="2743200"/>
          </a:xfrm>
          <a:prstGeom prst="roundRect">
            <a:avLst>
              <a:gd name="adj" fmla="val 2807"/>
            </a:avLst>
          </a:prstGeom>
          <a:solidFill>
            <a:schemeClr val="bg2"/>
          </a:solidFill>
          <a:ln w="12700">
            <a:solidFill>
              <a:schemeClr val="bg2"/>
            </a:solidFill>
            <a:prstDash val="solid"/>
          </a:ln>
        </p:spPr>
      </p:sp>
      <p:sp>
        <p:nvSpPr>
          <p:cNvPr id="21" name="Text 19"/>
          <p:cNvSpPr txBox="1"/>
          <p:nvPr/>
        </p:nvSpPr>
        <p:spPr>
          <a:xfrm>
            <a:off x="6903720" y="2697480"/>
            <a:ext cx="2148840" cy="320040"/>
          </a:xfrm>
          <a:prstGeom prst="rect">
            <a:avLst/>
          </a:prstGeom>
          <a:noFill/>
          <a:ln/>
        </p:spPr>
        <p:txBody>
          <a:bodyPr wrap="square" lIns="0" tIns="0" rIns="0" bIns="0" rtlCol="0" anchor="ctr"/>
          <a:lstStyle/>
          <a:p>
            <a:pPr indent="0" marL="0">
              <a:buNone/>
            </a:pPr>
            <a:r>
              <a:rPr lang="en-US" sz="1300" i="1" dirty="0">
                <a:solidFill>
                  <a:schemeClr val="tx2"/>
                </a:solidFill>
              </a:rPr>
              <a:t>Senior AML authority</a:t>
            </a:r>
            <a:endParaRPr lang="en-US" sz="1300" dirty="0"/>
          </a:p>
        </p:txBody>
      </p:sp>
      <p:sp>
        <p:nvSpPr>
          <p:cNvPr id="22" name="Text 20"/>
          <p:cNvSpPr txBox="1"/>
          <p:nvPr/>
        </p:nvSpPr>
        <p:spPr>
          <a:xfrm>
            <a:off x="6903720" y="3108960"/>
            <a:ext cx="2194560"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Final decision: approve or reject</a:t>
            </a:r>
            <a:endParaRPr lang="en-US" sz="1500" dirty="0"/>
          </a:p>
          <a:p>
            <a:pPr marL="177800" indent="-177800">
              <a:spcAft>
                <a:spcPts val="500"/>
              </a:spcAft>
              <a:buSzPct val="100000"/>
              <a:buChar char="•"/>
            </a:pPr>
            <a:r>
              <a:rPr lang="en-US" sz="1500" dirty="0">
                <a:solidFill>
                  <a:schemeClr val="tx1"/>
                </a:solidFill>
              </a:rPr>
              <a:t>File STR/SAR with BFIU</a:t>
            </a:r>
            <a:endParaRPr lang="en-US" sz="1500" dirty="0"/>
          </a:p>
          <a:p>
            <a:pPr marL="177800" indent="-177800">
              <a:spcAft>
                <a:spcPts val="500"/>
              </a:spcAft>
              <a:buSzPct val="100000"/>
              <a:buChar char="•"/>
            </a:pPr>
            <a:r>
              <a:rPr lang="en-US" sz="1500" dirty="0">
                <a:solidFill>
                  <a:schemeClr val="tx1"/>
                </a:solidFill>
              </a:rPr>
              <a:t>Document every disposition</a:t>
            </a:r>
            <a:endParaRPr lang="en-US" sz="1500" dirty="0"/>
          </a:p>
        </p:txBody>
      </p:sp>
      <p:sp>
        <p:nvSpPr>
          <p:cNvPr id="23" name="Arrow 3"/>
          <p:cNvSpPr/>
          <p:nvPr/>
        </p:nvSpPr>
        <p:spPr>
          <a:xfrm>
            <a:off x="9281160" y="1719072"/>
            <a:ext cx="365760" cy="365760"/>
          </a:xfrm>
          <a:prstGeom prst="rightArrow">
            <a:avLst/>
          </a:prstGeom>
          <a:solidFill>
            <a:schemeClr val="accent6"/>
          </a:solidFill>
          <a:ln w="12700">
            <a:solidFill>
              <a:schemeClr val="accent6"/>
            </a:solidFill>
            <a:prstDash val="solid"/>
          </a:ln>
        </p:spPr>
      </p:sp>
      <p:sp>
        <p:nvSpPr>
          <p:cNvPr id="24" name="STR box"/>
          <p:cNvSpPr/>
          <p:nvPr/>
        </p:nvSpPr>
        <p:spPr>
          <a:xfrm>
            <a:off x="9692640" y="1371600"/>
            <a:ext cx="1950415" cy="3931920"/>
          </a:xfrm>
          <a:prstGeom prst="roundRect">
            <a:avLst>
              <a:gd name="adj" fmla="val 3751"/>
            </a:avLst>
          </a:prstGeom>
          <a:solidFill>
            <a:schemeClr val="accent3"/>
          </a:solidFill>
          <a:ln w="12700">
            <a:solidFill>
              <a:schemeClr val="accent3"/>
            </a:solidFill>
            <a:prstDash val="solid"/>
          </a:ln>
        </p:spPr>
      </p:sp>
      <p:sp>
        <p:nvSpPr>
          <p:cNvPr id="25" name="STR circle"/>
          <p:cNvSpPr/>
          <p:nvPr/>
        </p:nvSpPr>
        <p:spPr>
          <a:xfrm>
            <a:off x="10302088" y="1691640"/>
            <a:ext cx="731520" cy="731520"/>
          </a:xfrm>
          <a:prstGeom prst="ellipse">
            <a:avLst/>
          </a:prstGeom>
          <a:solidFill>
            <a:srgbClr val="8E2A20"/>
          </a:solidFill>
          <a:ln w="12700">
            <a:solidFill>
              <a:srgbClr val="8E2A20"/>
            </a:solidFill>
            <a:prstDash val="solid"/>
          </a:ln>
        </p:spPr>
      </p:sp>
      <p:pic>
        <p:nvPicPr>
          <p:cNvPr id="26" name="STR icon" descr="preencoded.png">    </p:cNvPr>
          <p:cNvPicPr>
            <a:picLocks noChangeAspect="1"/>
          </p:cNvPicPr>
          <p:nvPr/>
        </p:nvPicPr>
        <p:blipFill>
          <a:blip r:embed="rId1"/>
          <a:stretch>
            <a:fillRect/>
          </a:stretch>
        </p:blipFill>
        <p:spPr>
          <a:xfrm>
            <a:off x="10484968" y="1874520"/>
            <a:ext cx="365760" cy="365760"/>
          </a:xfrm>
          <a:prstGeom prst="rect">
            <a:avLst/>
          </a:prstGeom>
        </p:spPr>
      </p:pic>
      <p:sp>
        <p:nvSpPr>
          <p:cNvPr id="27" name="Text 24"/>
          <p:cNvSpPr txBox="1"/>
          <p:nvPr/>
        </p:nvSpPr>
        <p:spPr>
          <a:xfrm>
            <a:off x="9829800" y="2606040"/>
            <a:ext cx="1676095" cy="822960"/>
          </a:xfrm>
          <a:prstGeom prst="rect">
            <a:avLst/>
          </a:prstGeom>
          <a:noFill/>
          <a:ln/>
        </p:spPr>
        <p:txBody>
          <a:bodyPr wrap="square" lIns="0" tIns="0" rIns="0" bIns="0" rtlCol="0" anchor="t"/>
          <a:lstStyle/>
          <a:p>
            <a:pPr algn="ctr" indent="0" marL="0">
              <a:buNone/>
            </a:pPr>
            <a:r>
              <a:rPr lang="en-US" sz="1800" b="1" dirty="0">
                <a:solidFill>
                  <a:schemeClr val="bg1"/>
                </a:solidFill>
              </a:rPr>
              <a:t>STR / SAR to BFIU</a:t>
            </a:r>
            <a:endParaRPr lang="en-US" sz="1800" dirty="0"/>
          </a:p>
        </p:txBody>
      </p:sp>
      <p:sp>
        <p:nvSpPr>
          <p:cNvPr id="28" name="Text 25"/>
          <p:cNvSpPr txBox="1"/>
          <p:nvPr/>
        </p:nvSpPr>
        <p:spPr>
          <a:xfrm>
            <a:off x="9829800" y="3429000"/>
            <a:ext cx="1676095" cy="822960"/>
          </a:xfrm>
          <a:prstGeom prst="rect">
            <a:avLst/>
          </a:prstGeom>
          <a:noFill/>
          <a:ln/>
        </p:spPr>
        <p:txBody>
          <a:bodyPr wrap="square" lIns="0" tIns="0" rIns="0" bIns="0" rtlCol="0" anchor="t"/>
          <a:lstStyle/>
          <a:p>
            <a:pPr algn="ctr" indent="0" marL="0">
              <a:buNone/>
            </a:pPr>
            <a:r>
              <a:rPr lang="en-US" sz="1400" dirty="0">
                <a:solidFill>
                  <a:schemeClr val="bg1"/>
                </a:solidFill>
              </a:rPr>
              <a:t>when suspicion is not resolved</a:t>
            </a:r>
            <a:endParaRPr lang="en-US" sz="1400" dirty="0"/>
          </a:p>
        </p:txBody>
      </p:sp>
      <p:sp>
        <p:nvSpPr>
          <p:cNvPr id="29" name="Screening rule"/>
          <p:cNvSpPr/>
          <p:nvPr/>
        </p:nvSpPr>
        <p:spPr>
          <a:xfrm>
            <a:off x="548640" y="5486400"/>
            <a:ext cx="11094415" cy="685800"/>
          </a:xfrm>
          <a:prstGeom prst="roundRect">
            <a:avLst>
              <a:gd name="adj" fmla="val 10667"/>
            </a:avLst>
          </a:prstGeom>
          <a:solidFill>
            <a:schemeClr val="bg2"/>
          </a:solidFill>
          <a:ln w="12700">
            <a:solidFill>
              <a:schemeClr val="bg2"/>
            </a:solidFill>
            <a:prstDash val="solid"/>
          </a:ln>
        </p:spPr>
      </p:sp>
      <p:sp>
        <p:nvSpPr>
          <p:cNvPr id="30" name="Text 27"/>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500" b="1" dirty="0">
                <a:solidFill>
                  <a:schemeClr val="accent3"/>
                </a:solidFill>
              </a:rPr>
              <a:t>Sanction screening covers everyone: </a:t>
            </a:r>
            <a:pPr indent="0" marL="0">
              <a:buNone/>
            </a:pPr>
            <a:r>
              <a:rPr lang="en-US" sz="1500" dirty="0">
                <a:solidFill>
                  <a:schemeClr val="tx1"/>
                </a:solidFill>
              </a:rPr>
              <a:t>we screen every party, bank, vessel, port and country in the deal, including late additions.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Price checks catch over- and under-invoicing</a:t>
            </a:r>
            <a:endParaRPr lang="en-US" sz="3200" dirty="0"/>
          </a:p>
        </p:txBody>
      </p:sp>
      <p:sp>
        <p:nvSpPr>
          <p:cNvPr id="3" name="Text 1"/>
          <p:cNvSpPr txBox="1"/>
          <p:nvPr/>
        </p:nvSpPr>
        <p:spPr>
          <a:xfrm>
            <a:off x="548640" y="1325880"/>
            <a:ext cx="6035040" cy="365760"/>
          </a:xfrm>
          <a:prstGeom prst="rect">
            <a:avLst/>
          </a:prstGeom>
          <a:noFill/>
          <a:ln/>
        </p:spPr>
        <p:txBody>
          <a:bodyPr wrap="square" lIns="0" tIns="0" rIns="0" bIns="0" rtlCol="0" anchor="ctr"/>
          <a:lstStyle/>
          <a:p>
            <a:pPr indent="0" marL="0">
              <a:buNone/>
            </a:pPr>
            <a:r>
              <a:rPr lang="en-US" sz="1600" b="1" dirty="0">
                <a:solidFill>
                  <a:schemeClr val="accent1"/>
                </a:solidFill>
              </a:rPr>
              <a:t>Allowed variance from reference price, and who must sign off above it</a:t>
            </a:r>
            <a:endParaRPr lang="en-US" sz="1600" dirty="0"/>
          </a:p>
        </p:txBody>
      </p:sp>
      <p:sp>
        <p:nvSpPr>
          <p:cNvPr id="4" name="Up to 25% band"/>
          <p:cNvSpPr/>
          <p:nvPr/>
        </p:nvSpPr>
        <p:spPr>
          <a:xfrm>
            <a:off x="548640" y="1828800"/>
            <a:ext cx="2011680" cy="749808"/>
          </a:xfrm>
          <a:prstGeom prst="roundRect">
            <a:avLst>
              <a:gd name="adj" fmla="val 9756"/>
            </a:avLst>
          </a:prstGeom>
          <a:solidFill>
            <a:srgbClr val="3F7A5A"/>
          </a:solidFill>
          <a:ln w="12700">
            <a:solidFill>
              <a:srgbClr val="3F7A5A"/>
            </a:solidFill>
            <a:prstDash val="solid"/>
          </a:ln>
        </p:spPr>
      </p:sp>
      <p:sp>
        <p:nvSpPr>
          <p:cNvPr id="5" name="Text 3"/>
          <p:cNvSpPr txBox="1"/>
          <p:nvPr/>
        </p:nvSpPr>
        <p:spPr>
          <a:xfrm>
            <a:off x="548640" y="1828800"/>
            <a:ext cx="2011680" cy="749808"/>
          </a:xfrm>
          <a:prstGeom prst="rect">
            <a:avLst/>
          </a:prstGeom>
          <a:noFill/>
          <a:ln/>
        </p:spPr>
        <p:txBody>
          <a:bodyPr wrap="square" lIns="0" tIns="0" rIns="0" bIns="0" rtlCol="0" anchor="ctr"/>
          <a:lstStyle/>
          <a:p>
            <a:pPr algn="ctr" indent="0" marL="0">
              <a:buNone/>
            </a:pPr>
            <a:r>
              <a:rPr lang="en-US" sz="1700" b="1" dirty="0">
                <a:solidFill>
                  <a:schemeClr val="bg1"/>
                </a:solidFill>
              </a:rPr>
              <a:t>Up to 25%</a:t>
            </a:r>
            <a:endParaRPr lang="en-US" sz="1700" dirty="0"/>
          </a:p>
        </p:txBody>
      </p:sp>
      <p:sp>
        <p:nvSpPr>
          <p:cNvPr id="6" name="Text 4"/>
          <p:cNvSpPr txBox="1"/>
          <p:nvPr/>
        </p:nvSpPr>
        <p:spPr>
          <a:xfrm>
            <a:off x="2788920" y="1828800"/>
            <a:ext cx="3657600" cy="749808"/>
          </a:xfrm>
          <a:prstGeom prst="rect">
            <a:avLst/>
          </a:prstGeom>
          <a:noFill/>
          <a:ln/>
        </p:spPr>
        <p:txBody>
          <a:bodyPr wrap="square" lIns="0" tIns="0" rIns="0" bIns="0" rtlCol="0" anchor="ctr"/>
          <a:lstStyle/>
          <a:p>
            <a:pPr indent="0" marL="0">
              <a:buNone/>
            </a:pPr>
            <a:r>
              <a:rPr lang="en-US" sz="1700" dirty="0">
                <a:solidFill>
                  <a:schemeClr val="tx1"/>
                </a:solidFill>
              </a:rPr>
              <a:t>Acceptable</a:t>
            </a:r>
            <a:endParaRPr lang="en-US" sz="1700" dirty="0"/>
          </a:p>
        </p:txBody>
      </p:sp>
      <p:sp>
        <p:nvSpPr>
          <p:cNvPr id="7" name="25% to 40% band"/>
          <p:cNvSpPr/>
          <p:nvPr/>
        </p:nvSpPr>
        <p:spPr>
          <a:xfrm>
            <a:off x="548640" y="2743200"/>
            <a:ext cx="2011680" cy="749808"/>
          </a:xfrm>
          <a:prstGeom prst="roundRect">
            <a:avLst>
              <a:gd name="adj" fmla="val 9756"/>
            </a:avLst>
          </a:prstGeom>
          <a:solidFill>
            <a:srgbClr val="557440"/>
          </a:solidFill>
          <a:ln w="12700">
            <a:solidFill>
              <a:srgbClr val="557440"/>
            </a:solidFill>
            <a:prstDash val="solid"/>
          </a:ln>
        </p:spPr>
      </p:sp>
      <p:sp>
        <p:nvSpPr>
          <p:cNvPr id="8" name="Text 6"/>
          <p:cNvSpPr txBox="1"/>
          <p:nvPr/>
        </p:nvSpPr>
        <p:spPr>
          <a:xfrm>
            <a:off x="548640" y="2743200"/>
            <a:ext cx="2011680" cy="749808"/>
          </a:xfrm>
          <a:prstGeom prst="rect">
            <a:avLst/>
          </a:prstGeom>
          <a:noFill/>
          <a:ln/>
        </p:spPr>
        <p:txBody>
          <a:bodyPr wrap="square" lIns="0" tIns="0" rIns="0" bIns="0" rtlCol="0" anchor="ctr"/>
          <a:lstStyle/>
          <a:p>
            <a:pPr algn="ctr" indent="0" marL="0">
              <a:buNone/>
            </a:pPr>
            <a:r>
              <a:rPr lang="en-US" sz="1700" b="1" dirty="0">
                <a:solidFill>
                  <a:schemeClr val="bg1"/>
                </a:solidFill>
              </a:rPr>
              <a:t>25% to 40%</a:t>
            </a:r>
            <a:endParaRPr lang="en-US" sz="1700" dirty="0"/>
          </a:p>
        </p:txBody>
      </p:sp>
      <p:sp>
        <p:nvSpPr>
          <p:cNvPr id="9" name="Text 7"/>
          <p:cNvSpPr txBox="1"/>
          <p:nvPr/>
        </p:nvSpPr>
        <p:spPr>
          <a:xfrm>
            <a:off x="2788920" y="2743200"/>
            <a:ext cx="3657600" cy="749808"/>
          </a:xfrm>
          <a:prstGeom prst="rect">
            <a:avLst/>
          </a:prstGeom>
          <a:noFill/>
          <a:ln/>
        </p:spPr>
        <p:txBody>
          <a:bodyPr wrap="square" lIns="0" tIns="0" rIns="0" bIns="0" rtlCol="0" anchor="ctr"/>
          <a:lstStyle/>
          <a:p>
            <a:pPr indent="0" marL="0">
              <a:buNone/>
            </a:pPr>
            <a:r>
              <a:rPr lang="en-US" sz="1700" dirty="0">
                <a:solidFill>
                  <a:schemeClr val="tx1"/>
                </a:solidFill>
              </a:rPr>
              <a:t>Level 1 review</a:t>
            </a:r>
            <a:endParaRPr lang="en-US" sz="1700" dirty="0"/>
          </a:p>
        </p:txBody>
      </p:sp>
      <p:sp>
        <p:nvSpPr>
          <p:cNvPr id="10" name="40% to 50% band"/>
          <p:cNvSpPr/>
          <p:nvPr/>
        </p:nvSpPr>
        <p:spPr>
          <a:xfrm>
            <a:off x="548640" y="3657600"/>
            <a:ext cx="2011680" cy="749808"/>
          </a:xfrm>
          <a:prstGeom prst="roundRect">
            <a:avLst>
              <a:gd name="adj" fmla="val 9756"/>
            </a:avLst>
          </a:prstGeom>
          <a:solidFill>
            <a:srgbClr val="D4911E"/>
          </a:solidFill>
          <a:ln w="12700">
            <a:solidFill>
              <a:srgbClr val="D4911E"/>
            </a:solidFill>
            <a:prstDash val="solid"/>
          </a:ln>
        </p:spPr>
      </p:sp>
      <p:sp>
        <p:nvSpPr>
          <p:cNvPr id="11" name="Text 9"/>
          <p:cNvSpPr txBox="1"/>
          <p:nvPr/>
        </p:nvSpPr>
        <p:spPr>
          <a:xfrm>
            <a:off x="548640" y="3657600"/>
            <a:ext cx="2011680" cy="749808"/>
          </a:xfrm>
          <a:prstGeom prst="rect">
            <a:avLst/>
          </a:prstGeom>
          <a:noFill/>
          <a:ln/>
        </p:spPr>
        <p:txBody>
          <a:bodyPr wrap="square" lIns="0" tIns="0" rIns="0" bIns="0" rtlCol="0" anchor="ctr"/>
          <a:lstStyle/>
          <a:p>
            <a:pPr algn="ctr" indent="0" marL="0">
              <a:buNone/>
            </a:pPr>
            <a:r>
              <a:rPr lang="en-US" sz="1700" b="1" dirty="0">
                <a:solidFill>
                  <a:schemeClr val="bg1"/>
                </a:solidFill>
              </a:rPr>
              <a:t>40% to 50%</a:t>
            </a:r>
            <a:endParaRPr lang="en-US" sz="1700" dirty="0"/>
          </a:p>
        </p:txBody>
      </p:sp>
      <p:sp>
        <p:nvSpPr>
          <p:cNvPr id="12" name="Text 10"/>
          <p:cNvSpPr txBox="1"/>
          <p:nvPr/>
        </p:nvSpPr>
        <p:spPr>
          <a:xfrm>
            <a:off x="2788920" y="3657600"/>
            <a:ext cx="3657600" cy="749808"/>
          </a:xfrm>
          <a:prstGeom prst="rect">
            <a:avLst/>
          </a:prstGeom>
          <a:noFill/>
          <a:ln/>
        </p:spPr>
        <p:txBody>
          <a:bodyPr wrap="square" lIns="0" tIns="0" rIns="0" bIns="0" rtlCol="0" anchor="ctr"/>
          <a:lstStyle/>
          <a:p>
            <a:pPr indent="0" marL="0">
              <a:buNone/>
            </a:pPr>
            <a:r>
              <a:rPr lang="en-US" sz="1700" dirty="0">
                <a:solidFill>
                  <a:schemeClr val="tx1"/>
                </a:solidFill>
              </a:rPr>
              <a:t>Level 2 review</a:t>
            </a:r>
            <a:endParaRPr lang="en-US" sz="1700" dirty="0"/>
          </a:p>
        </p:txBody>
      </p:sp>
      <p:sp>
        <p:nvSpPr>
          <p:cNvPr id="13" name="Above 50% band"/>
          <p:cNvSpPr/>
          <p:nvPr/>
        </p:nvSpPr>
        <p:spPr>
          <a:xfrm>
            <a:off x="548640" y="4572000"/>
            <a:ext cx="2011680" cy="749808"/>
          </a:xfrm>
          <a:prstGeom prst="roundRect">
            <a:avLst>
              <a:gd name="adj" fmla="val 9756"/>
            </a:avLst>
          </a:prstGeom>
          <a:solidFill>
            <a:srgbClr val="B83A2B"/>
          </a:solidFill>
          <a:ln w="12700">
            <a:solidFill>
              <a:srgbClr val="B83A2B"/>
            </a:solidFill>
            <a:prstDash val="solid"/>
          </a:ln>
        </p:spPr>
      </p:sp>
      <p:sp>
        <p:nvSpPr>
          <p:cNvPr id="14" name="Text 12"/>
          <p:cNvSpPr txBox="1"/>
          <p:nvPr/>
        </p:nvSpPr>
        <p:spPr>
          <a:xfrm>
            <a:off x="548640" y="4572000"/>
            <a:ext cx="2011680" cy="749808"/>
          </a:xfrm>
          <a:prstGeom prst="rect">
            <a:avLst/>
          </a:prstGeom>
          <a:noFill/>
          <a:ln/>
        </p:spPr>
        <p:txBody>
          <a:bodyPr wrap="square" lIns="0" tIns="0" rIns="0" bIns="0" rtlCol="0" anchor="ctr"/>
          <a:lstStyle/>
          <a:p>
            <a:pPr algn="ctr" indent="0" marL="0">
              <a:buNone/>
            </a:pPr>
            <a:r>
              <a:rPr lang="en-US" sz="1700" b="1" dirty="0">
                <a:solidFill>
                  <a:schemeClr val="bg1"/>
                </a:solidFill>
              </a:rPr>
              <a:t>Above 50%</a:t>
            </a:r>
            <a:endParaRPr lang="en-US" sz="1700" dirty="0"/>
          </a:p>
        </p:txBody>
      </p:sp>
      <p:sp>
        <p:nvSpPr>
          <p:cNvPr id="15" name="Text 13"/>
          <p:cNvSpPr txBox="1"/>
          <p:nvPr/>
        </p:nvSpPr>
        <p:spPr>
          <a:xfrm>
            <a:off x="2788920" y="4572000"/>
            <a:ext cx="3657600" cy="749808"/>
          </a:xfrm>
          <a:prstGeom prst="rect">
            <a:avLst/>
          </a:prstGeom>
          <a:noFill/>
          <a:ln/>
        </p:spPr>
        <p:txBody>
          <a:bodyPr wrap="square" lIns="0" tIns="0" rIns="0" bIns="0" rtlCol="0" anchor="ctr"/>
          <a:lstStyle/>
          <a:p>
            <a:pPr indent="0" marL="0">
              <a:buNone/>
            </a:pPr>
            <a:r>
              <a:rPr lang="en-US" sz="1700" dirty="0">
                <a:solidFill>
                  <a:schemeClr val="tx1"/>
                </a:solidFill>
              </a:rPr>
              <a:t>Level 3 review</a:t>
            </a:r>
            <a:endParaRPr lang="en-US" sz="1700" dirty="0"/>
          </a:p>
        </p:txBody>
      </p:sp>
      <p:sp>
        <p:nvSpPr>
          <p:cNvPr id="16" name="Text 14"/>
          <p:cNvSpPr txBox="1"/>
          <p:nvPr/>
        </p:nvSpPr>
        <p:spPr>
          <a:xfrm>
            <a:off x="548640" y="5532120"/>
            <a:ext cx="5852160" cy="640080"/>
          </a:xfrm>
          <a:prstGeom prst="rect">
            <a:avLst/>
          </a:prstGeom>
          <a:noFill/>
          <a:ln/>
        </p:spPr>
        <p:txBody>
          <a:bodyPr wrap="square" lIns="0" tIns="0" rIns="0" bIns="0" rtlCol="0" anchor="t"/>
          <a:lstStyle/>
          <a:p>
            <a:pPr indent="0" marL="0">
              <a:buNone/>
            </a:pPr>
            <a:r>
              <a:rPr lang="en-US" sz="1400" dirty="0">
                <a:solidFill>
                  <a:schemeClr val="tx1"/>
                </a:solidFill>
              </a:rPr>
              <a:t>Sources: commodity indices, chambers of commerce, embassies, peer banks and our own HS-code price database.</a:t>
            </a:r>
            <a:endParaRPr lang="en-US" sz="1400" dirty="0"/>
          </a:p>
        </p:txBody>
      </p:sp>
      <p:sp>
        <p:nvSpPr>
          <p:cNvPr id="17" name="Case card"/>
          <p:cNvSpPr/>
          <p:nvPr/>
        </p:nvSpPr>
        <p:spPr>
          <a:xfrm>
            <a:off x="6766560" y="1325880"/>
            <a:ext cx="4876495" cy="4846320"/>
          </a:xfrm>
          <a:prstGeom prst="roundRect">
            <a:avLst>
              <a:gd name="adj" fmla="val 1509"/>
            </a:avLst>
          </a:prstGeom>
          <a:solidFill>
            <a:schemeClr val="bg2"/>
          </a:solidFill>
          <a:ln w="12700">
            <a:solidFill>
              <a:schemeClr val="bg2"/>
            </a:solidFill>
            <a:prstDash val="solid"/>
          </a:ln>
        </p:spPr>
      </p:sp>
      <p:sp>
        <p:nvSpPr>
          <p:cNvPr id="18" name="Text 16"/>
          <p:cNvSpPr txBox="1"/>
          <p:nvPr/>
        </p:nvSpPr>
        <p:spPr>
          <a:xfrm>
            <a:off x="7040880" y="1463040"/>
            <a:ext cx="4327855"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Case from the policy: 10 imported cars</a:t>
            </a:r>
            <a:endParaRPr lang="en-US" sz="1700" dirty="0"/>
          </a:p>
        </p:txBody>
      </p:sp>
      <p:graphicFrame>
        <p:nvGraphicFramePr>
          <p:cNvPr id="19" name="Car price chart" descr=""/>
          <p:cNvGraphicFramePr/>
          <p:nvPr/>
        </p:nvGraphicFramePr>
        <p:xfrm>
          <a:off x="6949440" y="1874520"/>
          <a:ext cx="4510735" cy="237744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7040880" y="4389120"/>
            <a:ext cx="4327855" cy="16459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Invoice 40% below market; buyer and seller related</a:t>
            </a:r>
            <a:endParaRPr lang="en-US" sz="1500" dirty="0"/>
          </a:p>
          <a:p>
            <a:pPr marL="177800" indent="-177800">
              <a:spcAft>
                <a:spcPts val="500"/>
              </a:spcAft>
              <a:buSzPct val="100000"/>
              <a:buChar char="•"/>
            </a:pPr>
            <a:r>
              <a:rPr lang="en-US" sz="1500" dirty="0">
                <a:solidFill>
                  <a:schemeClr val="tx1"/>
                </a:solidFill>
              </a:rPr>
              <a:t>Levels 1 and 2 could not clear the alerts</a:t>
            </a:r>
            <a:endParaRPr lang="en-US" sz="1500" dirty="0"/>
          </a:p>
          <a:p>
            <a:pPr marL="177800" indent="-177800">
              <a:spcAft>
                <a:spcPts val="500"/>
              </a:spcAft>
              <a:buSzPct val="100000"/>
              <a:buChar char="•"/>
            </a:pPr>
            <a:r>
              <a:rPr lang="en-US" sz="1500" dirty="0">
                <a:solidFill>
                  <a:schemeClr val="tx1"/>
                </a:solidFill>
              </a:rPr>
              <a:t>Level 3 rejected the LC and filed an STR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Red flags staff must watch for</a:t>
            </a:r>
            <a:endParaRPr lang="en-US" sz="3200" dirty="0"/>
          </a:p>
        </p:txBody>
      </p:sp>
      <p:sp>
        <p:nvSpPr>
          <p:cNvPr id="3" name="Account and payments card"/>
          <p:cNvSpPr/>
          <p:nvPr/>
        </p:nvSpPr>
        <p:spPr>
          <a:xfrm>
            <a:off x="548640" y="1371600"/>
            <a:ext cx="3703320" cy="2240280"/>
          </a:xfrm>
          <a:prstGeom prst="roundRect">
            <a:avLst>
              <a:gd name="adj" fmla="val 3265"/>
            </a:avLst>
          </a:prstGeom>
          <a:solidFill>
            <a:schemeClr val="bg2"/>
          </a:solidFill>
          <a:ln w="12700">
            <a:solidFill>
              <a:schemeClr val="bg2"/>
            </a:solidFill>
            <a:prstDash val="solid"/>
          </a:ln>
        </p:spPr>
      </p:sp>
      <p:sp>
        <p:nvSpPr>
          <p:cNvPr id="4" name="Account and payments circle"/>
          <p:cNvSpPr/>
          <p:nvPr/>
        </p:nvSpPr>
        <p:spPr>
          <a:xfrm>
            <a:off x="777240" y="1600200"/>
            <a:ext cx="594360" cy="594360"/>
          </a:xfrm>
          <a:prstGeom prst="ellipse">
            <a:avLst/>
          </a:prstGeom>
          <a:solidFill>
            <a:srgbClr val="912125"/>
          </a:solidFill>
          <a:ln w="12700">
            <a:solidFill>
              <a:srgbClr val="912125"/>
            </a:solidFill>
            <a:prstDash val="solid"/>
          </a:ln>
        </p:spPr>
      </p:sp>
      <p:pic>
        <p:nvPicPr>
          <p:cNvPr id="5" name="Account and payments icon"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1508760" y="1600200"/>
            <a:ext cx="2560320" cy="594360"/>
          </a:xfrm>
          <a:prstGeom prst="rect">
            <a:avLst/>
          </a:prstGeom>
          <a:noFill/>
          <a:ln/>
        </p:spPr>
        <p:txBody>
          <a:bodyPr wrap="square" lIns="0" tIns="0" rIns="0" bIns="0" rtlCol="0" anchor="ctr"/>
          <a:lstStyle/>
          <a:p>
            <a:pPr indent="0" marL="0">
              <a:buNone/>
            </a:pPr>
            <a:r>
              <a:rPr lang="en-US" sz="1800" b="1" dirty="0">
                <a:solidFill>
                  <a:schemeClr val="tx2"/>
                </a:solidFill>
              </a:rPr>
              <a:t>Account and payments</a:t>
            </a:r>
            <a:endParaRPr lang="en-US" sz="1800" dirty="0"/>
          </a:p>
        </p:txBody>
      </p:sp>
      <p:sp>
        <p:nvSpPr>
          <p:cNvPr id="7" name="Text 4"/>
          <p:cNvSpPr txBox="1"/>
          <p:nvPr/>
        </p:nvSpPr>
        <p:spPr>
          <a:xfrm>
            <a:off x="777240" y="2377440"/>
            <a:ext cx="3291840" cy="11430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Last-minute payment changes or new payees</a:t>
            </a:r>
            <a:endParaRPr lang="en-US" sz="1500" dirty="0"/>
          </a:p>
          <a:p>
            <a:pPr marL="177800" indent="-177800">
              <a:spcAft>
                <a:spcPts val="500"/>
              </a:spcAft>
              <a:buSzPct val="100000"/>
              <a:buChar char="•"/>
            </a:pPr>
            <a:r>
              <a:rPr lang="en-US" sz="1500" dirty="0">
                <a:solidFill>
                  <a:schemeClr val="tx1"/>
                </a:solidFill>
              </a:rPr>
              <a:t>Pass-through accounts with fast, high volumes</a:t>
            </a:r>
            <a:endParaRPr lang="en-US" sz="1500" dirty="0"/>
          </a:p>
        </p:txBody>
      </p:sp>
      <p:sp>
        <p:nvSpPr>
          <p:cNvPr id="8" name="Documents and goods card"/>
          <p:cNvSpPr/>
          <p:nvPr/>
        </p:nvSpPr>
        <p:spPr>
          <a:xfrm>
            <a:off x="4526280" y="1371600"/>
            <a:ext cx="3703320" cy="2240280"/>
          </a:xfrm>
          <a:prstGeom prst="roundRect">
            <a:avLst>
              <a:gd name="adj" fmla="val 3265"/>
            </a:avLst>
          </a:prstGeom>
          <a:solidFill>
            <a:schemeClr val="bg2"/>
          </a:solidFill>
          <a:ln w="12700">
            <a:solidFill>
              <a:schemeClr val="bg2"/>
            </a:solidFill>
            <a:prstDash val="solid"/>
          </a:ln>
        </p:spPr>
      </p:sp>
      <p:sp>
        <p:nvSpPr>
          <p:cNvPr id="9" name="Documents and goods circle"/>
          <p:cNvSpPr/>
          <p:nvPr/>
        </p:nvSpPr>
        <p:spPr>
          <a:xfrm>
            <a:off x="4754880" y="1600200"/>
            <a:ext cx="594360" cy="594360"/>
          </a:xfrm>
          <a:prstGeom prst="ellipse">
            <a:avLst/>
          </a:prstGeom>
          <a:solidFill>
            <a:srgbClr val="912125"/>
          </a:solidFill>
          <a:ln w="12700">
            <a:solidFill>
              <a:srgbClr val="912125"/>
            </a:solidFill>
            <a:prstDash val="solid"/>
          </a:ln>
        </p:spPr>
      </p:sp>
      <p:pic>
        <p:nvPicPr>
          <p:cNvPr id="10" name="Documents and goods icon" descr="preencoded.png">    </p:cNvPr>
          <p:cNvPicPr>
            <a:picLocks noChangeAspect="1"/>
          </p:cNvPicPr>
          <p:nvPr/>
        </p:nvPicPr>
        <p:blipFill>
          <a:blip r:embed="rId2"/>
          <a:stretch>
            <a:fillRect/>
          </a:stretch>
        </p:blipFill>
        <p:spPr>
          <a:xfrm>
            <a:off x="4903470" y="1748790"/>
            <a:ext cx="297180" cy="297180"/>
          </a:xfrm>
          <a:prstGeom prst="rect">
            <a:avLst/>
          </a:prstGeom>
        </p:spPr>
      </p:pic>
      <p:sp>
        <p:nvSpPr>
          <p:cNvPr id="11" name="Text 7"/>
          <p:cNvSpPr txBox="1"/>
          <p:nvPr/>
        </p:nvSpPr>
        <p:spPr>
          <a:xfrm>
            <a:off x="5486400" y="1600200"/>
            <a:ext cx="2560320" cy="594360"/>
          </a:xfrm>
          <a:prstGeom prst="rect">
            <a:avLst/>
          </a:prstGeom>
          <a:noFill/>
          <a:ln/>
        </p:spPr>
        <p:txBody>
          <a:bodyPr wrap="square" lIns="0" tIns="0" rIns="0" bIns="0" rtlCol="0" anchor="ctr"/>
          <a:lstStyle/>
          <a:p>
            <a:pPr indent="0" marL="0">
              <a:buNone/>
            </a:pPr>
            <a:r>
              <a:rPr lang="en-US" sz="1800" b="1" dirty="0">
                <a:solidFill>
                  <a:schemeClr val="tx2"/>
                </a:solidFill>
              </a:rPr>
              <a:t>Documents and goods</a:t>
            </a:r>
            <a:endParaRPr lang="en-US" sz="1800" dirty="0"/>
          </a:p>
        </p:txBody>
      </p:sp>
      <p:sp>
        <p:nvSpPr>
          <p:cNvPr id="12" name="Text 8"/>
          <p:cNvSpPr txBox="1"/>
          <p:nvPr/>
        </p:nvSpPr>
        <p:spPr>
          <a:xfrm>
            <a:off x="4754880" y="2377440"/>
            <a:ext cx="3291840" cy="11430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Vague goods descriptions or prices out of line</a:t>
            </a:r>
            <a:endParaRPr lang="en-US" sz="1500" dirty="0"/>
          </a:p>
          <a:p>
            <a:pPr marL="177800" indent="-177800">
              <a:spcAft>
                <a:spcPts val="500"/>
              </a:spcAft>
              <a:buSzPct val="100000"/>
              <a:buChar char="•"/>
            </a:pPr>
            <a:r>
              <a:rPr lang="en-US" sz="1500" dirty="0">
                <a:solidFill>
                  <a:schemeClr val="tx1"/>
                </a:solidFill>
              </a:rPr>
              <a:t>Missing, altered or reused trade documents</a:t>
            </a:r>
            <a:endParaRPr lang="en-US" sz="1500" dirty="0"/>
          </a:p>
        </p:txBody>
      </p:sp>
      <p:sp>
        <p:nvSpPr>
          <p:cNvPr id="13" name="Trade activity card"/>
          <p:cNvSpPr/>
          <p:nvPr/>
        </p:nvSpPr>
        <p:spPr>
          <a:xfrm>
            <a:off x="548640" y="3886200"/>
            <a:ext cx="3703320" cy="2240280"/>
          </a:xfrm>
          <a:prstGeom prst="roundRect">
            <a:avLst>
              <a:gd name="adj" fmla="val 3265"/>
            </a:avLst>
          </a:prstGeom>
          <a:solidFill>
            <a:schemeClr val="bg2"/>
          </a:solidFill>
          <a:ln w="12700">
            <a:solidFill>
              <a:schemeClr val="bg2"/>
            </a:solidFill>
            <a:prstDash val="solid"/>
          </a:ln>
        </p:spPr>
      </p:sp>
      <p:sp>
        <p:nvSpPr>
          <p:cNvPr id="14" name="Trade activity circle"/>
          <p:cNvSpPr/>
          <p:nvPr/>
        </p:nvSpPr>
        <p:spPr>
          <a:xfrm>
            <a:off x="777240" y="4114800"/>
            <a:ext cx="594360" cy="594360"/>
          </a:xfrm>
          <a:prstGeom prst="ellipse">
            <a:avLst/>
          </a:prstGeom>
          <a:solidFill>
            <a:srgbClr val="912125"/>
          </a:solidFill>
          <a:ln w="12700">
            <a:solidFill>
              <a:srgbClr val="912125"/>
            </a:solidFill>
            <a:prstDash val="solid"/>
          </a:ln>
        </p:spPr>
      </p:sp>
      <p:pic>
        <p:nvPicPr>
          <p:cNvPr id="15" name="Trade activity icon" descr="preencoded.png">    </p:cNvPr>
          <p:cNvPicPr>
            <a:picLocks noChangeAspect="1"/>
          </p:cNvPicPr>
          <p:nvPr/>
        </p:nvPicPr>
        <p:blipFill>
          <a:blip r:embed="rId3"/>
          <a:stretch>
            <a:fillRect/>
          </a:stretch>
        </p:blipFill>
        <p:spPr>
          <a:xfrm>
            <a:off x="925830" y="4263390"/>
            <a:ext cx="297180" cy="297180"/>
          </a:xfrm>
          <a:prstGeom prst="rect">
            <a:avLst/>
          </a:prstGeom>
        </p:spPr>
      </p:pic>
      <p:sp>
        <p:nvSpPr>
          <p:cNvPr id="16" name="Text 11"/>
          <p:cNvSpPr txBox="1"/>
          <p:nvPr/>
        </p:nvSpPr>
        <p:spPr>
          <a:xfrm>
            <a:off x="1508760" y="4114800"/>
            <a:ext cx="2560320" cy="594360"/>
          </a:xfrm>
          <a:prstGeom prst="rect">
            <a:avLst/>
          </a:prstGeom>
          <a:noFill/>
          <a:ln/>
        </p:spPr>
        <p:txBody>
          <a:bodyPr wrap="square" lIns="0" tIns="0" rIns="0" bIns="0" rtlCol="0" anchor="ctr"/>
          <a:lstStyle/>
          <a:p>
            <a:pPr indent="0" marL="0">
              <a:buNone/>
            </a:pPr>
            <a:r>
              <a:rPr lang="en-US" sz="1800" b="1" dirty="0">
                <a:solidFill>
                  <a:schemeClr val="tx2"/>
                </a:solidFill>
              </a:rPr>
              <a:t>Trade activity</a:t>
            </a:r>
            <a:endParaRPr lang="en-US" sz="1800" dirty="0"/>
          </a:p>
        </p:txBody>
      </p:sp>
      <p:sp>
        <p:nvSpPr>
          <p:cNvPr id="17" name="Text 12"/>
          <p:cNvSpPr txBox="1"/>
          <p:nvPr/>
        </p:nvSpPr>
        <p:spPr>
          <a:xfrm>
            <a:off x="777240" y="4892040"/>
            <a:ext cx="3291840" cy="11430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Goods that don't fit the customer's business</a:t>
            </a:r>
            <a:endParaRPr lang="en-US" sz="1500" dirty="0"/>
          </a:p>
          <a:p>
            <a:pPr marL="177800" indent="-177800">
              <a:spcAft>
                <a:spcPts val="500"/>
              </a:spcAft>
              <a:buSzPct val="100000"/>
              <a:buChar char="•"/>
            </a:pPr>
            <a:r>
              <a:rPr lang="en-US" sz="1500" dirty="0">
                <a:solidFill>
                  <a:schemeClr val="tx1"/>
                </a:solidFill>
              </a:rPr>
              <a:t>Odd routes through several countries</a:t>
            </a:r>
            <a:endParaRPr lang="en-US" sz="1500" dirty="0"/>
          </a:p>
        </p:txBody>
      </p:sp>
      <p:sp>
        <p:nvSpPr>
          <p:cNvPr id="18" name="Structure card"/>
          <p:cNvSpPr/>
          <p:nvPr/>
        </p:nvSpPr>
        <p:spPr>
          <a:xfrm>
            <a:off x="4526280" y="3886200"/>
            <a:ext cx="3703320" cy="2240280"/>
          </a:xfrm>
          <a:prstGeom prst="roundRect">
            <a:avLst>
              <a:gd name="adj" fmla="val 3265"/>
            </a:avLst>
          </a:prstGeom>
          <a:solidFill>
            <a:schemeClr val="bg2"/>
          </a:solidFill>
          <a:ln w="12700">
            <a:solidFill>
              <a:schemeClr val="bg2"/>
            </a:solidFill>
            <a:prstDash val="solid"/>
          </a:ln>
        </p:spPr>
      </p:sp>
      <p:sp>
        <p:nvSpPr>
          <p:cNvPr id="19" name="Structure circle"/>
          <p:cNvSpPr/>
          <p:nvPr/>
        </p:nvSpPr>
        <p:spPr>
          <a:xfrm>
            <a:off x="4754880" y="4114800"/>
            <a:ext cx="594360" cy="594360"/>
          </a:xfrm>
          <a:prstGeom prst="ellipse">
            <a:avLst/>
          </a:prstGeom>
          <a:solidFill>
            <a:srgbClr val="912125"/>
          </a:solidFill>
          <a:ln w="12700">
            <a:solidFill>
              <a:srgbClr val="912125"/>
            </a:solidFill>
            <a:prstDash val="solid"/>
          </a:ln>
        </p:spPr>
      </p:sp>
      <p:pic>
        <p:nvPicPr>
          <p:cNvPr id="20" name="Structure icon" descr="preencoded.png">    </p:cNvPr>
          <p:cNvPicPr>
            <a:picLocks noChangeAspect="1"/>
          </p:cNvPicPr>
          <p:nvPr/>
        </p:nvPicPr>
        <p:blipFill>
          <a:blip r:embed="rId4"/>
          <a:stretch>
            <a:fillRect/>
          </a:stretch>
        </p:blipFill>
        <p:spPr>
          <a:xfrm>
            <a:off x="4903470" y="4263390"/>
            <a:ext cx="297180" cy="297180"/>
          </a:xfrm>
          <a:prstGeom prst="rect">
            <a:avLst/>
          </a:prstGeom>
        </p:spPr>
      </p:pic>
      <p:sp>
        <p:nvSpPr>
          <p:cNvPr id="21" name="Text 15"/>
          <p:cNvSpPr txBox="1"/>
          <p:nvPr/>
        </p:nvSpPr>
        <p:spPr>
          <a:xfrm>
            <a:off x="5486400" y="4114800"/>
            <a:ext cx="2560320" cy="594360"/>
          </a:xfrm>
          <a:prstGeom prst="rect">
            <a:avLst/>
          </a:prstGeom>
          <a:noFill/>
          <a:ln/>
        </p:spPr>
        <p:txBody>
          <a:bodyPr wrap="square" lIns="0" tIns="0" rIns="0" bIns="0" rtlCol="0" anchor="ctr"/>
          <a:lstStyle/>
          <a:p>
            <a:pPr indent="0" marL="0">
              <a:buNone/>
            </a:pPr>
            <a:r>
              <a:rPr lang="en-US" sz="1800" b="1" dirty="0">
                <a:solidFill>
                  <a:schemeClr val="tx2"/>
                </a:solidFill>
              </a:rPr>
              <a:t>Structure</a:t>
            </a:r>
            <a:endParaRPr lang="en-US" sz="1800" dirty="0"/>
          </a:p>
        </p:txBody>
      </p:sp>
      <p:sp>
        <p:nvSpPr>
          <p:cNvPr id="22" name="Text 16"/>
          <p:cNvSpPr txBox="1"/>
          <p:nvPr/>
        </p:nvSpPr>
        <p:spPr>
          <a:xfrm>
            <a:off x="4754880" y="4892040"/>
            <a:ext cx="3291840" cy="11430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Shell or newly formed firms trading big volumes</a:t>
            </a:r>
            <a:endParaRPr lang="en-US" sz="1500" dirty="0"/>
          </a:p>
          <a:p>
            <a:pPr marL="177800" indent="-177800">
              <a:spcAft>
                <a:spcPts val="500"/>
              </a:spcAft>
              <a:buSzPct val="100000"/>
              <a:buChar char="•"/>
            </a:pPr>
            <a:r>
              <a:rPr lang="en-US" sz="1500" dirty="0">
                <a:solidFill>
                  <a:schemeClr val="tx1"/>
                </a:solidFill>
              </a:rPr>
              <a:t>Hidden owners and complex ownership</a:t>
            </a:r>
            <a:endParaRPr lang="en-US" sz="1500" dirty="0"/>
          </a:p>
        </p:txBody>
      </p:sp>
      <p:sp>
        <p:nvSpPr>
          <p:cNvPr id="23" name="Alert stat"/>
          <p:cNvSpPr/>
          <p:nvPr/>
        </p:nvSpPr>
        <p:spPr>
          <a:xfrm>
            <a:off x="8503920" y="1371600"/>
            <a:ext cx="3139135" cy="4754880"/>
          </a:xfrm>
          <a:prstGeom prst="roundRect">
            <a:avLst>
              <a:gd name="adj" fmla="val 2330"/>
            </a:avLst>
          </a:prstGeom>
          <a:solidFill>
            <a:schemeClr val="tx2"/>
          </a:solidFill>
          <a:ln w="12700">
            <a:solidFill>
              <a:schemeClr val="tx2"/>
            </a:solidFill>
            <a:prstDash val="solid"/>
          </a:ln>
        </p:spPr>
      </p:sp>
      <p:sp>
        <p:nvSpPr>
          <p:cNvPr id="24" name="Text 18"/>
          <p:cNvSpPr txBox="1"/>
          <p:nvPr/>
        </p:nvSpPr>
        <p:spPr>
          <a:xfrm>
            <a:off x="8778240" y="1737360"/>
            <a:ext cx="2590495" cy="1188720"/>
          </a:xfrm>
          <a:prstGeom prst="rect">
            <a:avLst/>
          </a:prstGeom>
          <a:noFill/>
          <a:ln/>
        </p:spPr>
        <p:txBody>
          <a:bodyPr wrap="square" lIns="0" tIns="0" rIns="0" bIns="0" rtlCol="0" anchor="ctr"/>
          <a:lstStyle/>
          <a:p>
            <a:pPr indent="0" marL="0">
              <a:buNone/>
            </a:pPr>
            <a:r>
              <a:rPr lang="en-US" sz="7200" b="1" dirty="0">
                <a:solidFill>
                  <a:schemeClr val="bg1"/>
                </a:solidFill>
                <a:latin typeface="Cambria" pitchFamily="34" charset="0"/>
                <a:ea typeface="Cambria" pitchFamily="34" charset="-122"/>
                <a:cs typeface="Cambria" pitchFamily="34" charset="-120"/>
              </a:rPr>
              <a:t>48</a:t>
            </a:r>
            <a:endParaRPr lang="en-US" sz="7200" dirty="0"/>
          </a:p>
        </p:txBody>
      </p:sp>
      <p:sp>
        <p:nvSpPr>
          <p:cNvPr id="25" name="Text 19"/>
          <p:cNvSpPr txBox="1"/>
          <p:nvPr/>
        </p:nvSpPr>
        <p:spPr>
          <a:xfrm>
            <a:off x="8778240" y="2926080"/>
            <a:ext cx="2590495" cy="822960"/>
          </a:xfrm>
          <a:prstGeom prst="rect">
            <a:avLst/>
          </a:prstGeom>
          <a:noFill/>
          <a:ln/>
        </p:spPr>
        <p:txBody>
          <a:bodyPr wrap="square" lIns="0" tIns="0" rIns="0" bIns="0" rtlCol="0" anchor="ctr"/>
          <a:lstStyle/>
          <a:p>
            <a:pPr indent="0" marL="0">
              <a:buNone/>
            </a:pPr>
            <a:r>
              <a:rPr lang="en-US" sz="1600" dirty="0">
                <a:solidFill>
                  <a:schemeClr val="bg1"/>
                </a:solidFill>
              </a:rPr>
              <a:t>bank-specific TBML alerts in 8 categories (Appendix B)</a:t>
            </a:r>
            <a:endParaRPr lang="en-US" sz="1600" dirty="0"/>
          </a:p>
        </p:txBody>
      </p:sp>
      <p:sp>
        <p:nvSpPr>
          <p:cNvPr id="26" name="Text 20"/>
          <p:cNvSpPr txBox="1"/>
          <p:nvPr/>
        </p:nvSpPr>
        <p:spPr>
          <a:xfrm>
            <a:off x="8778240" y="4023360"/>
            <a:ext cx="2590495" cy="1280160"/>
          </a:xfrm>
          <a:prstGeom prst="rect">
            <a:avLst/>
          </a:prstGeom>
          <a:noFill/>
          <a:ln/>
        </p:spPr>
        <p:txBody>
          <a:bodyPr wrap="square" lIns="0" tIns="0" rIns="0" bIns="0" rtlCol="0" anchor="ctr"/>
          <a:lstStyle/>
          <a:p>
            <a:pPr indent="0" marL="0">
              <a:buNone/>
            </a:pPr>
            <a:r>
              <a:rPr lang="en-US" sz="1400" dirty="0">
                <a:solidFill>
                  <a:schemeClr val="accent6"/>
                </a:solidFill>
              </a:rPr>
              <a:t>The four groups on the left follow the FATF and Egmont Group risk indicators published in 2021.</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we need from SMT</a:t>
            </a:r>
            <a:endParaRPr lang="en-US" sz="3200" dirty="0"/>
          </a:p>
        </p:txBody>
      </p:sp>
      <p:sp>
        <p:nvSpPr>
          <p:cNvPr id="3" name="Endorse the policy circle"/>
          <p:cNvSpPr/>
          <p:nvPr/>
        </p:nvSpPr>
        <p:spPr>
          <a:xfrm>
            <a:off x="548640" y="1371600"/>
            <a:ext cx="685800" cy="685800"/>
          </a:xfrm>
          <a:prstGeom prst="ellipse">
            <a:avLst/>
          </a:prstGeom>
          <a:solidFill>
            <a:srgbClr val="912125"/>
          </a:solidFill>
          <a:ln w="12700">
            <a:solidFill>
              <a:srgbClr val="912125"/>
            </a:solidFill>
            <a:prstDash val="solid"/>
          </a:ln>
        </p:spPr>
      </p:sp>
      <p:pic>
        <p:nvPicPr>
          <p:cNvPr id="4" name="Endorse the policy icon" descr="preencoded.png">    </p:cNvPr>
          <p:cNvPicPr>
            <a:picLocks noChangeAspect="1"/>
          </p:cNvPicPr>
          <p:nvPr/>
        </p:nvPicPr>
        <p:blipFill>
          <a:blip r:embed="rId1"/>
          <a:stretch>
            <a:fillRect/>
          </a:stretch>
        </p:blipFill>
        <p:spPr>
          <a:xfrm>
            <a:off x="720090" y="1543050"/>
            <a:ext cx="342900" cy="342900"/>
          </a:xfrm>
          <a:prstGeom prst="rect">
            <a:avLst/>
          </a:prstGeom>
        </p:spPr>
      </p:pic>
      <p:sp>
        <p:nvSpPr>
          <p:cNvPr id="5" name="Text 2"/>
          <p:cNvSpPr txBox="1"/>
          <p:nvPr/>
        </p:nvSpPr>
        <p:spPr>
          <a:xfrm>
            <a:off x="1463040" y="1371600"/>
            <a:ext cx="3291840" cy="685800"/>
          </a:xfrm>
          <a:prstGeom prst="rect">
            <a:avLst/>
          </a:prstGeom>
          <a:noFill/>
          <a:ln/>
        </p:spPr>
        <p:txBody>
          <a:bodyPr wrap="square" lIns="0" tIns="0" rIns="0" bIns="0" rtlCol="0" anchor="ctr"/>
          <a:lstStyle/>
          <a:p>
            <a:pPr indent="0" marL="0">
              <a:buNone/>
            </a:pPr>
            <a:r>
              <a:rPr lang="en-US" sz="2000" b="1" dirty="0">
                <a:solidFill>
                  <a:schemeClr val="bg1"/>
                </a:solidFill>
              </a:rPr>
              <a:t>Endorse the policy</a:t>
            </a:r>
            <a:endParaRPr lang="en-US" sz="2000" dirty="0"/>
          </a:p>
        </p:txBody>
      </p:sp>
      <p:sp>
        <p:nvSpPr>
          <p:cNvPr id="6" name="Text 3"/>
          <p:cNvSpPr txBox="1"/>
          <p:nvPr/>
        </p:nvSpPr>
        <p:spPr>
          <a:xfrm>
            <a:off x="4846320" y="1371600"/>
            <a:ext cx="6796735" cy="685800"/>
          </a:xfrm>
          <a:prstGeom prst="rect">
            <a:avLst/>
          </a:prstGeom>
          <a:noFill/>
          <a:ln/>
        </p:spPr>
        <p:txBody>
          <a:bodyPr wrap="square" lIns="0" tIns="0" rIns="0" bIns="0" rtlCol="0" anchor="ctr"/>
          <a:lstStyle/>
          <a:p>
            <a:pPr indent="0" marL="0">
              <a:buNone/>
            </a:pPr>
            <a:r>
              <a:rPr lang="en-US" sz="1700" dirty="0">
                <a:solidFill>
                  <a:schemeClr val="accent6"/>
                </a:solidFill>
              </a:rPr>
              <a:t>Recommend v1.0 to the Board for approval</a:t>
            </a:r>
            <a:endParaRPr lang="en-US" sz="1700" dirty="0"/>
          </a:p>
        </p:txBody>
      </p:sp>
      <p:sp>
        <p:nvSpPr>
          <p:cNvPr id="7" name="Fund the tools circle"/>
          <p:cNvSpPr/>
          <p:nvPr/>
        </p:nvSpPr>
        <p:spPr>
          <a:xfrm>
            <a:off x="548640" y="2322576"/>
            <a:ext cx="685800" cy="685800"/>
          </a:xfrm>
          <a:prstGeom prst="ellipse">
            <a:avLst/>
          </a:prstGeom>
          <a:solidFill>
            <a:srgbClr val="912125"/>
          </a:solidFill>
          <a:ln w="12700">
            <a:solidFill>
              <a:srgbClr val="912125"/>
            </a:solidFill>
            <a:prstDash val="solid"/>
          </a:ln>
        </p:spPr>
      </p:sp>
      <p:pic>
        <p:nvPicPr>
          <p:cNvPr id="8" name="Fund the tools icon" descr="preencoded.png">    </p:cNvPr>
          <p:cNvPicPr>
            <a:picLocks noChangeAspect="1"/>
          </p:cNvPicPr>
          <p:nvPr/>
        </p:nvPicPr>
        <p:blipFill>
          <a:blip r:embed="rId2"/>
          <a:stretch>
            <a:fillRect/>
          </a:stretch>
        </p:blipFill>
        <p:spPr>
          <a:xfrm>
            <a:off x="720090" y="2494026"/>
            <a:ext cx="342900" cy="342900"/>
          </a:xfrm>
          <a:prstGeom prst="rect">
            <a:avLst/>
          </a:prstGeom>
        </p:spPr>
      </p:pic>
      <p:sp>
        <p:nvSpPr>
          <p:cNvPr id="9" name="Text 5"/>
          <p:cNvSpPr txBox="1"/>
          <p:nvPr/>
        </p:nvSpPr>
        <p:spPr>
          <a:xfrm>
            <a:off x="1463040" y="2322576"/>
            <a:ext cx="3291840" cy="685800"/>
          </a:xfrm>
          <a:prstGeom prst="rect">
            <a:avLst/>
          </a:prstGeom>
          <a:noFill/>
          <a:ln/>
        </p:spPr>
        <p:txBody>
          <a:bodyPr wrap="square" lIns="0" tIns="0" rIns="0" bIns="0" rtlCol="0" anchor="ctr"/>
          <a:lstStyle/>
          <a:p>
            <a:pPr indent="0" marL="0">
              <a:buNone/>
            </a:pPr>
            <a:r>
              <a:rPr lang="en-US" sz="2000" b="1" dirty="0">
                <a:solidFill>
                  <a:schemeClr val="bg1"/>
                </a:solidFill>
              </a:rPr>
              <a:t>Fund the tools</a:t>
            </a:r>
            <a:endParaRPr lang="en-US" sz="2000" dirty="0"/>
          </a:p>
        </p:txBody>
      </p:sp>
      <p:sp>
        <p:nvSpPr>
          <p:cNvPr id="10" name="Text 6"/>
          <p:cNvSpPr txBox="1"/>
          <p:nvPr/>
        </p:nvSpPr>
        <p:spPr>
          <a:xfrm>
            <a:off x="4846320" y="2322576"/>
            <a:ext cx="6796735" cy="685800"/>
          </a:xfrm>
          <a:prstGeom prst="rect">
            <a:avLst/>
          </a:prstGeom>
          <a:noFill/>
          <a:ln/>
        </p:spPr>
        <p:txBody>
          <a:bodyPr wrap="square" lIns="0" tIns="0" rIns="0" bIns="0" rtlCol="0" anchor="ctr"/>
          <a:lstStyle/>
          <a:p>
            <a:pPr indent="0" marL="0">
              <a:buNone/>
            </a:pPr>
            <a:r>
              <a:rPr lang="en-US" sz="1700" dirty="0">
                <a:solidFill>
                  <a:schemeClr val="accent6"/>
                </a:solidFill>
              </a:rPr>
              <a:t>Automated screening, price database, pricing feed, vessel tracking</a:t>
            </a:r>
            <a:endParaRPr lang="en-US" sz="1700" dirty="0"/>
          </a:p>
        </p:txBody>
      </p:sp>
      <p:sp>
        <p:nvSpPr>
          <p:cNvPr id="11" name="Back the training plan circle"/>
          <p:cNvSpPr/>
          <p:nvPr/>
        </p:nvSpPr>
        <p:spPr>
          <a:xfrm>
            <a:off x="548640" y="3273552"/>
            <a:ext cx="685800" cy="685800"/>
          </a:xfrm>
          <a:prstGeom prst="ellipse">
            <a:avLst/>
          </a:prstGeom>
          <a:solidFill>
            <a:srgbClr val="912125"/>
          </a:solidFill>
          <a:ln w="12700">
            <a:solidFill>
              <a:srgbClr val="912125"/>
            </a:solidFill>
            <a:prstDash val="solid"/>
          </a:ln>
        </p:spPr>
      </p:sp>
      <p:pic>
        <p:nvPicPr>
          <p:cNvPr id="12" name="Back the training plan icon" descr="preencoded.png">    </p:cNvPr>
          <p:cNvPicPr>
            <a:picLocks noChangeAspect="1"/>
          </p:cNvPicPr>
          <p:nvPr/>
        </p:nvPicPr>
        <p:blipFill>
          <a:blip r:embed="rId3"/>
          <a:stretch>
            <a:fillRect/>
          </a:stretch>
        </p:blipFill>
        <p:spPr>
          <a:xfrm>
            <a:off x="720090" y="3445002"/>
            <a:ext cx="342900" cy="342900"/>
          </a:xfrm>
          <a:prstGeom prst="rect">
            <a:avLst/>
          </a:prstGeom>
        </p:spPr>
      </p:pic>
      <p:sp>
        <p:nvSpPr>
          <p:cNvPr id="13" name="Text 8"/>
          <p:cNvSpPr txBox="1"/>
          <p:nvPr/>
        </p:nvSpPr>
        <p:spPr>
          <a:xfrm>
            <a:off x="1463040" y="3273552"/>
            <a:ext cx="3291840" cy="685800"/>
          </a:xfrm>
          <a:prstGeom prst="rect">
            <a:avLst/>
          </a:prstGeom>
          <a:noFill/>
          <a:ln/>
        </p:spPr>
        <p:txBody>
          <a:bodyPr wrap="square" lIns="0" tIns="0" rIns="0" bIns="0" rtlCol="0" anchor="ctr"/>
          <a:lstStyle/>
          <a:p>
            <a:pPr indent="0" marL="0">
              <a:buNone/>
            </a:pPr>
            <a:r>
              <a:rPr lang="en-US" sz="2000" b="1" dirty="0">
                <a:solidFill>
                  <a:schemeClr val="bg1"/>
                </a:solidFill>
              </a:rPr>
              <a:t>Back the training plan</a:t>
            </a:r>
            <a:endParaRPr lang="en-US" sz="2000" dirty="0"/>
          </a:p>
        </p:txBody>
      </p:sp>
      <p:sp>
        <p:nvSpPr>
          <p:cNvPr id="14" name="Text 9"/>
          <p:cNvSpPr txBox="1"/>
          <p:nvPr/>
        </p:nvSpPr>
        <p:spPr>
          <a:xfrm>
            <a:off x="4846320" y="3273552"/>
            <a:ext cx="6796735" cy="685800"/>
          </a:xfrm>
          <a:prstGeom prst="rect">
            <a:avLst/>
          </a:prstGeom>
          <a:noFill/>
          <a:ln/>
        </p:spPr>
        <p:txBody>
          <a:bodyPr wrap="square" lIns="0" tIns="0" rIns="0" bIns="0" rtlCol="0" anchor="ctr"/>
          <a:lstStyle/>
          <a:p>
            <a:pPr indent="0" marL="0">
              <a:buNone/>
            </a:pPr>
            <a:r>
              <a:rPr lang="en-US" sz="1700" dirty="0">
                <a:solidFill>
                  <a:schemeClr val="accent6"/>
                </a:solidFill>
              </a:rPr>
              <a:t>Role-based TBML training for Level 1, 2 and 3 staff with HRD</a:t>
            </a:r>
            <a:endParaRPr lang="en-US" sz="1700" dirty="0"/>
          </a:p>
        </p:txBody>
      </p:sp>
      <p:sp>
        <p:nvSpPr>
          <p:cNvPr id="15" name="Own the annual review circle"/>
          <p:cNvSpPr/>
          <p:nvPr/>
        </p:nvSpPr>
        <p:spPr>
          <a:xfrm>
            <a:off x="548640" y="4224528"/>
            <a:ext cx="685800" cy="685800"/>
          </a:xfrm>
          <a:prstGeom prst="ellipse">
            <a:avLst/>
          </a:prstGeom>
          <a:solidFill>
            <a:srgbClr val="912125"/>
          </a:solidFill>
          <a:ln w="12700">
            <a:solidFill>
              <a:srgbClr val="912125"/>
            </a:solidFill>
            <a:prstDash val="solid"/>
          </a:ln>
        </p:spPr>
      </p:sp>
      <p:pic>
        <p:nvPicPr>
          <p:cNvPr id="16" name="Own the annual review icon" descr="preencoded.png">    </p:cNvPr>
          <p:cNvPicPr>
            <a:picLocks noChangeAspect="1"/>
          </p:cNvPicPr>
          <p:nvPr/>
        </p:nvPicPr>
        <p:blipFill>
          <a:blip r:embed="rId4"/>
          <a:stretch>
            <a:fillRect/>
          </a:stretch>
        </p:blipFill>
        <p:spPr>
          <a:xfrm>
            <a:off x="720090" y="4395978"/>
            <a:ext cx="342900" cy="342900"/>
          </a:xfrm>
          <a:prstGeom prst="rect">
            <a:avLst/>
          </a:prstGeom>
        </p:spPr>
      </p:pic>
      <p:sp>
        <p:nvSpPr>
          <p:cNvPr id="17" name="Text 11"/>
          <p:cNvSpPr txBox="1"/>
          <p:nvPr/>
        </p:nvSpPr>
        <p:spPr>
          <a:xfrm>
            <a:off x="1463040" y="4224528"/>
            <a:ext cx="3291840" cy="685800"/>
          </a:xfrm>
          <a:prstGeom prst="rect">
            <a:avLst/>
          </a:prstGeom>
          <a:noFill/>
          <a:ln/>
        </p:spPr>
        <p:txBody>
          <a:bodyPr wrap="square" lIns="0" tIns="0" rIns="0" bIns="0" rtlCol="0" anchor="ctr"/>
          <a:lstStyle/>
          <a:p>
            <a:pPr indent="0" marL="0">
              <a:buNone/>
            </a:pPr>
            <a:r>
              <a:rPr lang="en-US" sz="2000" b="1" dirty="0">
                <a:solidFill>
                  <a:schemeClr val="bg1"/>
                </a:solidFill>
              </a:rPr>
              <a:t>Own the annual review</a:t>
            </a:r>
            <a:endParaRPr lang="en-US" sz="2000" dirty="0"/>
          </a:p>
        </p:txBody>
      </p:sp>
      <p:sp>
        <p:nvSpPr>
          <p:cNvPr id="18" name="Text 12"/>
          <p:cNvSpPr txBox="1"/>
          <p:nvPr/>
        </p:nvSpPr>
        <p:spPr>
          <a:xfrm>
            <a:off x="4846320" y="4224528"/>
            <a:ext cx="6796735" cy="685800"/>
          </a:xfrm>
          <a:prstGeom prst="rect">
            <a:avLst/>
          </a:prstGeom>
          <a:noFill/>
          <a:ln/>
        </p:spPr>
        <p:txBody>
          <a:bodyPr wrap="square" lIns="0" tIns="0" rIns="0" bIns="0" rtlCol="0" anchor="ctr"/>
          <a:lstStyle/>
          <a:p>
            <a:pPr indent="0" marL="0">
              <a:buNone/>
            </a:pPr>
            <a:r>
              <a:rPr lang="en-US" sz="1700" dirty="0">
                <a:solidFill>
                  <a:schemeClr val="accent6"/>
                </a:solidFill>
              </a:rPr>
              <a:t>Enterprise-wide TBML risk review plus independent control testing</a:t>
            </a:r>
            <a:endParaRPr lang="en-US" sz="1700" dirty="0"/>
          </a:p>
        </p:txBody>
      </p:sp>
      <p:sp>
        <p:nvSpPr>
          <p:cNvPr id="19" name="Set the tone circle"/>
          <p:cNvSpPr/>
          <p:nvPr/>
        </p:nvSpPr>
        <p:spPr>
          <a:xfrm>
            <a:off x="548640" y="5175504"/>
            <a:ext cx="685800" cy="685800"/>
          </a:xfrm>
          <a:prstGeom prst="ellipse">
            <a:avLst/>
          </a:prstGeom>
          <a:solidFill>
            <a:srgbClr val="912125"/>
          </a:solidFill>
          <a:ln w="12700">
            <a:solidFill>
              <a:srgbClr val="912125"/>
            </a:solidFill>
            <a:prstDash val="solid"/>
          </a:ln>
        </p:spPr>
      </p:sp>
      <p:pic>
        <p:nvPicPr>
          <p:cNvPr id="20" name="Set the tone icon" descr="preencoded.png">    </p:cNvPr>
          <p:cNvPicPr>
            <a:picLocks noChangeAspect="1"/>
          </p:cNvPicPr>
          <p:nvPr/>
        </p:nvPicPr>
        <p:blipFill>
          <a:blip r:embed="rId5"/>
          <a:stretch>
            <a:fillRect/>
          </a:stretch>
        </p:blipFill>
        <p:spPr>
          <a:xfrm>
            <a:off x="720090" y="5346954"/>
            <a:ext cx="342900" cy="342900"/>
          </a:xfrm>
          <a:prstGeom prst="rect">
            <a:avLst/>
          </a:prstGeom>
        </p:spPr>
      </p:pic>
      <p:sp>
        <p:nvSpPr>
          <p:cNvPr id="21" name="Text 14"/>
          <p:cNvSpPr txBox="1"/>
          <p:nvPr/>
        </p:nvSpPr>
        <p:spPr>
          <a:xfrm>
            <a:off x="1463040" y="5175504"/>
            <a:ext cx="3291840" cy="685800"/>
          </a:xfrm>
          <a:prstGeom prst="rect">
            <a:avLst/>
          </a:prstGeom>
          <a:noFill/>
          <a:ln/>
        </p:spPr>
        <p:txBody>
          <a:bodyPr wrap="square" lIns="0" tIns="0" rIns="0" bIns="0" rtlCol="0" anchor="ctr"/>
          <a:lstStyle/>
          <a:p>
            <a:pPr indent="0" marL="0">
              <a:buNone/>
            </a:pPr>
            <a:r>
              <a:rPr lang="en-US" sz="2000" b="1" dirty="0">
                <a:solidFill>
                  <a:schemeClr val="bg1"/>
                </a:solidFill>
              </a:rPr>
              <a:t>Set the tone</a:t>
            </a:r>
            <a:endParaRPr lang="en-US" sz="2000" dirty="0"/>
          </a:p>
        </p:txBody>
      </p:sp>
      <p:sp>
        <p:nvSpPr>
          <p:cNvPr id="22" name="Text 15"/>
          <p:cNvSpPr txBox="1"/>
          <p:nvPr/>
        </p:nvSpPr>
        <p:spPr>
          <a:xfrm>
            <a:off x="4846320" y="5175504"/>
            <a:ext cx="6796735" cy="685800"/>
          </a:xfrm>
          <a:prstGeom prst="rect">
            <a:avLst/>
          </a:prstGeom>
          <a:noFill/>
          <a:ln/>
        </p:spPr>
        <p:txBody>
          <a:bodyPr wrap="square" lIns="0" tIns="0" rIns="0" bIns="0" rtlCol="0" anchor="ctr"/>
          <a:lstStyle/>
          <a:p>
            <a:pPr indent="0" marL="0">
              <a:buNone/>
            </a:pPr>
            <a:r>
              <a:rPr lang="en-US" sz="1700" dirty="0">
                <a:solidFill>
                  <a:schemeClr val="accent6"/>
                </a:solidFill>
              </a:rPr>
              <a:t>Make clear that business targets never override due diligence</a:t>
            </a:r>
            <a:endParaRPr lang="en-US" sz="1700" dirty="0"/>
          </a:p>
        </p:txBody>
      </p:sp>
      <p:sp>
        <p:nvSpPr>
          <p:cNvPr id="23" name="Text 16"/>
          <p:cNvSpPr txBox="1"/>
          <p:nvPr/>
        </p:nvSpPr>
        <p:spPr>
          <a:xfrm>
            <a:off x="548640" y="6172200"/>
            <a:ext cx="5486400" cy="411480"/>
          </a:xfrm>
          <a:prstGeom prst="rect">
            <a:avLst/>
          </a:prstGeom>
          <a:noFill/>
          <a:ln/>
        </p:spPr>
        <p:txBody>
          <a:bodyPr wrap="square" lIns="0" tIns="0" rIns="0" bIns="0" rtlCol="0" anchor="ctr"/>
          <a:lstStyle/>
          <a:p>
            <a:pPr indent="0" marL="0">
              <a:buNone/>
            </a:pPr>
            <a:r>
              <a:rPr lang="en-US" sz="1600" i="1" dirty="0">
                <a:solidFill>
                  <a:schemeClr val="accent5"/>
                </a:solidFill>
              </a:rPr>
              <a:t>Questions and discussion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9A9D"/>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itizens Bank TBML">
  <a:themeElements>
    <a:clrScheme name="Citizens Bank TBML">
      <a:dk1>
        <a:srgbClr val="241A1C"/>
      </a:dk1>
      <a:lt1>
        <a:srgbClr val="FFFFFF"/>
      </a:lt1>
      <a:dk2>
        <a:srgbClr val="4A0E15"/>
      </a:dk2>
      <a:lt2>
        <a:srgbClr val="F7F3F2"/>
      </a:lt2>
      <a:accent1>
        <a:srgbClr val="912125"/>
      </a:accent1>
      <a:accent2>
        <a:srgbClr val="6B1820"/>
      </a:accent2>
      <a:accent3>
        <a:srgbClr val="B83A2B"/>
      </a:accent3>
      <a:accent4>
        <a:srgbClr val="D4911E"/>
      </a:accent4>
      <a:accent5>
        <a:srgbClr val="C9A46E"/>
      </a:accent5>
      <a:accent6>
        <a:srgbClr val="B89A9D"/>
      </a:accent6>
      <a:hlink>
        <a:srgbClr val="912125"/>
      </a:hlink>
      <a:folHlink>
        <a:srgbClr val="6B1820"/>
      </a:folHlink>
    </a:clrScheme>
    <a:fontScheme name="Citizens Bank TBM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Citizens Bank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Guidelines on Prevention of Trade Based Money Laundering</dc:title>
  <dc:subject>PptxGenJS Presentation</dc:subject>
  <dc:creator>AML &amp; CFT Division, Citizens Bank PLC</dc:creator>
  <cp:lastModifiedBy>AML &amp; CFT Division, Citizens Bank PLC</cp:lastModifiedBy>
  <cp:revision>1</cp:revision>
  <dcterms:created xsi:type="dcterms:W3CDTF">2026-10-15T12:41:56Z</dcterms:created>
  <dcterms:modified xsi:type="dcterms:W3CDTF">2026-10-15T12:41:56Z</dcterms:modified>
</cp:coreProperties>
</file>